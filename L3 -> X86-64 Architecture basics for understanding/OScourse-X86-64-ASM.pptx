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7.xml" ContentType="application/vnd.openxmlformats-officedocument.presentationml.notesSlide+xml"/>
  <Override PartName="/ppt/notesSlides/_rels/notesSlide17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BF84701-1274-4A0B-BE7B-F4F42B25EE21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A14CE6-FE08-4B56-B2B5-50F1931EB0B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C3EB38-4E35-4733-92A3-C21017617C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34ED1D-507A-4CAA-BB03-4983A78A58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6D69E57-347E-492C-BE3A-0B83790515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AD2F6A0-BF2E-44AA-A84B-AF3CC33E4D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8E9D08F-7372-4CF7-920E-D006A995AB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CDC0919-AD32-4023-89D1-71798369AE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45B8985-CBFD-4972-9791-8D0FA8B007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AA1458E-274B-4E90-98D4-9091A87EEA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4DCD18F-BFB6-42E0-8EBF-ACC9C00606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36E3F21-7BB3-4A57-BD3A-25CA81E446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F5EDBB4-F211-49F0-B91D-B8E3E0275D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5087D8-D3AD-496B-9056-7BA0499DBA5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7AD2C2-3E5F-4A48-AF4F-308E79FE8CE4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A6C4D7-C01D-45FD-A6E4-8128CD1C06E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C24B93-B58D-40D7-976D-361D254D8CB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33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33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7CA0C7-E0B8-4C5E-98CA-22FFD715168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241C17-3B6B-4860-85AE-153DDEEEB1C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748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86F976-5F4B-444C-AF00-CB792F0AD71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91DA2C-1E5F-4E6E-AB1F-9F3EEF92CE1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5E126E-4F90-45AF-A2C8-BCA53C83752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86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EBAFED-10AB-4CB1-BF9F-0BBDCFDEF71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350879-B6A6-4079-BD52-F0D42856507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i="1" lang="en-US" sz="6000" spc="-1" strike="noStrike">
                <a:solidFill>
                  <a:schemeClr val="dk1"/>
                </a:solidFill>
                <a:latin typeface="Calibri"/>
                <a:ea typeface="Calibri"/>
              </a:rPr>
              <a:t>Operating Systems</a:t>
            </a:r>
            <a:br>
              <a:rPr sz="6000"/>
            </a:br>
            <a:r>
              <a:rPr b="1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CSE 231 (Section B)</a:t>
            </a:r>
            <a:br>
              <a:rPr sz="3600"/>
            </a:br>
            <a:r>
              <a:rPr b="1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Instructor: Sambuddho Chakravarty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(Semester: Monsoon 2020)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Week 1: Aug 20 –  Aug 27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26680" y="0"/>
            <a:ext cx="10826640" cy="59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Interrupts and Interrupt Handling (Heart of the OS)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25400" y="775080"/>
            <a:ext cx="10627920" cy="568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304;p37"/>
          <p:cNvSpPr/>
          <p:nvPr/>
        </p:nvSpPr>
        <p:spPr>
          <a:xfrm>
            <a:off x="526680" y="705600"/>
            <a:ext cx="10978920" cy="59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Interrupts: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ALL devices send a signal to the CPU whenever they require to ``communicate” with the CPU.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CPU is switched to Interrupt Handler program (part of the OS/supplied externally).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The Interrupt Handler ``saves’’ various information with respect to the running program and it is jumped to a fixed location in memory – the IH routine.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The IH routing – binaries (programs) that involve instructions and commands to communicate with the device.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The IH routine may either handle the device interrupt and jump back to executing the saved task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In case of task scheduler timer clock interrupt the CPU scheduler handles the tasks/process and handles it.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92400" y="150120"/>
            <a:ext cx="10826640" cy="59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Processes/Tasks/Threads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725400" y="775080"/>
            <a:ext cx="10627920" cy="568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311;p38"/>
          <p:cNvSpPr/>
          <p:nvPr/>
        </p:nvSpPr>
        <p:spPr>
          <a:xfrm>
            <a:off x="526680" y="705600"/>
            <a:ext cx="10978920" cy="59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50760">
              <a:lnSpc>
                <a:spcPct val="9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312;p38"/>
          <p:cNvSpPr/>
          <p:nvPr/>
        </p:nvSpPr>
        <p:spPr>
          <a:xfrm>
            <a:off x="679320" y="858240"/>
            <a:ext cx="10978920" cy="59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Running program binary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The OS loads up the binary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Runtime linker supplies the necessary address bindings – the address of memory where local variables are stored – MMU Used.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Saves ``state’’ of the running program in Process Control Block (PCB) for each process.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Loads the ``state’’ of the new program and starts executing it.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Every so often a timer interrupt ``interrupts’’ the CPU to switch the process/task.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Timer interrupt handler 🡪 invokes 🡪 process scheduler.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50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685800" indent="-7632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26680" y="0"/>
            <a:ext cx="10826640" cy="59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Multi-Processing (Why you exactly need an OS)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725400" y="775080"/>
            <a:ext cx="10627920" cy="568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319;p39"/>
          <p:cNvSpPr/>
          <p:nvPr/>
        </p:nvSpPr>
        <p:spPr>
          <a:xfrm>
            <a:off x="526680" y="705600"/>
            <a:ext cx="10978920" cy="59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50760">
              <a:lnSpc>
                <a:spcPct val="9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320;p39"/>
          <p:cNvSpPr/>
          <p:nvPr/>
        </p:nvSpPr>
        <p:spPr>
          <a:xfrm>
            <a:off x="679320" y="858240"/>
            <a:ext cx="10978920" cy="59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Multiple processes running in tandem giving the illusion that multiple programs are running.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Process executions synchronized with the help of the process/task scheduler.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Scheduler is invoked periodically by the timer interrupt handler which saves the state of a task and loads up another.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Gives illusion of multi-processing.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Task state –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Every running program has a task / process state which includes: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Process ID (PID)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CPU registers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Memory addresses for code, stack, data, heap and BSS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I/O operations in progress.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Interrupts that are unhandled.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Previous process running and next process that needs to be run (in the process queue).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685800" indent="-7632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325;p40"/>
          <p:cNvSpPr/>
          <p:nvPr/>
        </p:nvSpPr>
        <p:spPr>
          <a:xfrm>
            <a:off x="4888440" y="757800"/>
            <a:ext cx="772920" cy="727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2719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26680" y="0"/>
            <a:ext cx="10826640" cy="59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Processes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-495720" y="192960"/>
            <a:ext cx="10627920" cy="568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328;p40"/>
          <p:cNvSpPr/>
          <p:nvPr/>
        </p:nvSpPr>
        <p:spPr>
          <a:xfrm>
            <a:off x="-1122480" y="-396720"/>
            <a:ext cx="10978920" cy="59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50760">
              <a:lnSpc>
                <a:spcPct val="9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329;p40"/>
          <p:cNvSpPr/>
          <p:nvPr/>
        </p:nvSpPr>
        <p:spPr>
          <a:xfrm>
            <a:off x="974880" y="747360"/>
            <a:ext cx="772920" cy="727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2719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330;p40"/>
          <p:cNvSpPr/>
          <p:nvPr/>
        </p:nvSpPr>
        <p:spPr>
          <a:xfrm>
            <a:off x="2248560" y="736560"/>
            <a:ext cx="772920" cy="727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2719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331;p40"/>
          <p:cNvSpPr/>
          <p:nvPr/>
        </p:nvSpPr>
        <p:spPr>
          <a:xfrm>
            <a:off x="3529440" y="736560"/>
            <a:ext cx="772920" cy="727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2719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332;p40"/>
          <p:cNvSpPr/>
          <p:nvPr/>
        </p:nvSpPr>
        <p:spPr>
          <a:xfrm>
            <a:off x="6153480" y="747360"/>
            <a:ext cx="772920" cy="727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2719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Google Shape;333;p40"/>
          <p:cNvSpPr/>
          <p:nvPr/>
        </p:nvSpPr>
        <p:spPr>
          <a:xfrm>
            <a:off x="7353000" y="754920"/>
            <a:ext cx="772920" cy="727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2719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334;p40"/>
          <p:cNvSpPr/>
          <p:nvPr/>
        </p:nvSpPr>
        <p:spPr>
          <a:xfrm>
            <a:off x="7414920" y="87084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335;p40"/>
          <p:cNvSpPr/>
          <p:nvPr/>
        </p:nvSpPr>
        <p:spPr>
          <a:xfrm>
            <a:off x="6364440" y="90396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P2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336;p40"/>
          <p:cNvSpPr/>
          <p:nvPr/>
        </p:nvSpPr>
        <p:spPr>
          <a:xfrm>
            <a:off x="5046480" y="88920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337;p40"/>
          <p:cNvSpPr/>
          <p:nvPr/>
        </p:nvSpPr>
        <p:spPr>
          <a:xfrm>
            <a:off x="3718080" y="89244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338;p40"/>
          <p:cNvSpPr/>
          <p:nvPr/>
        </p:nvSpPr>
        <p:spPr>
          <a:xfrm>
            <a:off x="2396160" y="88272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P5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Google Shape;339;p40"/>
          <p:cNvSpPr/>
          <p:nvPr/>
        </p:nvSpPr>
        <p:spPr>
          <a:xfrm>
            <a:off x="1193400" y="89244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1" name="Google Shape;340;p40"/>
          <p:cNvCxnSpPr>
            <a:stCxn id="90" idx="2"/>
            <a:endCxn id="102" idx="0"/>
          </p:cNvCxnSpPr>
          <p:nvPr/>
        </p:nvCxnSpPr>
        <p:spPr>
          <a:xfrm>
            <a:off x="1361160" y="1474560"/>
            <a:ext cx="3457080" cy="1870920"/>
          </a:xfrm>
          <a:prstGeom prst="straightConnector1">
            <a:avLst/>
          </a:prstGeom>
          <a:ln w="9525">
            <a:solidFill>
              <a:srgbClr val="5b9bd5"/>
            </a:solidFill>
            <a:miter/>
            <a:headEnd len="med" type="triangle" w="med"/>
            <a:tailEnd len="med" type="triangle" w="med"/>
          </a:ln>
        </p:spPr>
      </p:cxnSp>
      <p:cxnSp>
        <p:nvCxnSpPr>
          <p:cNvPr id="103" name="Google Shape;342;p40"/>
          <p:cNvCxnSpPr>
            <a:stCxn id="91" idx="2"/>
            <a:endCxn id="102" idx="0"/>
          </p:cNvCxnSpPr>
          <p:nvPr/>
        </p:nvCxnSpPr>
        <p:spPr>
          <a:xfrm>
            <a:off x="2634840" y="1463760"/>
            <a:ext cx="2183400" cy="1881720"/>
          </a:xfrm>
          <a:prstGeom prst="straightConnector1">
            <a:avLst/>
          </a:prstGeom>
          <a:ln w="9525">
            <a:solidFill>
              <a:srgbClr val="5b9bd5"/>
            </a:solidFill>
            <a:miter/>
            <a:headEnd len="med" type="triangle" w="med"/>
            <a:tailEnd len="med" type="triangle" w="med"/>
          </a:ln>
        </p:spPr>
      </p:cxnSp>
      <p:cxnSp>
        <p:nvCxnSpPr>
          <p:cNvPr id="104" name="Google Shape;343;p40"/>
          <p:cNvCxnSpPr>
            <a:stCxn id="92" idx="2"/>
            <a:endCxn id="102" idx="0"/>
          </p:cNvCxnSpPr>
          <p:nvPr/>
        </p:nvCxnSpPr>
        <p:spPr>
          <a:xfrm>
            <a:off x="3915720" y="1463760"/>
            <a:ext cx="902520" cy="1881720"/>
          </a:xfrm>
          <a:prstGeom prst="straightConnector1">
            <a:avLst/>
          </a:prstGeom>
          <a:ln w="9525">
            <a:solidFill>
              <a:srgbClr val="5b9bd5"/>
            </a:solidFill>
            <a:miter/>
            <a:headEnd len="med" type="triangle" w="med"/>
            <a:tailEnd len="med" type="triangle" w="med"/>
          </a:ln>
        </p:spPr>
      </p:cxnSp>
      <p:cxnSp>
        <p:nvCxnSpPr>
          <p:cNvPr id="105" name="Google Shape;344;p40"/>
          <p:cNvCxnSpPr>
            <a:stCxn id="86" idx="2"/>
            <a:endCxn id="102" idx="0"/>
          </p:cNvCxnSpPr>
          <p:nvPr/>
        </p:nvCxnSpPr>
        <p:spPr>
          <a:xfrm flipH="1">
            <a:off x="4817880" y="1485000"/>
            <a:ext cx="457200" cy="1860480"/>
          </a:xfrm>
          <a:prstGeom prst="straightConnector1">
            <a:avLst/>
          </a:prstGeom>
          <a:ln w="9525">
            <a:solidFill>
              <a:srgbClr val="5b9bd5"/>
            </a:solidFill>
            <a:miter/>
            <a:headEnd len="med" type="triangle" w="med"/>
            <a:tailEnd len="med" type="triangle" w="med"/>
          </a:ln>
        </p:spPr>
      </p:cxnSp>
      <p:cxnSp>
        <p:nvCxnSpPr>
          <p:cNvPr id="106" name="Google Shape;345;p40"/>
          <p:cNvCxnSpPr>
            <a:stCxn id="93" idx="2"/>
            <a:endCxn id="102" idx="0"/>
          </p:cNvCxnSpPr>
          <p:nvPr/>
        </p:nvCxnSpPr>
        <p:spPr>
          <a:xfrm flipH="1">
            <a:off x="4817880" y="1474560"/>
            <a:ext cx="1722240" cy="1870920"/>
          </a:xfrm>
          <a:prstGeom prst="straightConnector1">
            <a:avLst/>
          </a:prstGeom>
          <a:ln w="9525">
            <a:solidFill>
              <a:srgbClr val="5b9bd5"/>
            </a:solidFill>
            <a:miter/>
            <a:headEnd len="med" type="triangle" w="med"/>
            <a:tailEnd len="med" type="triangle" w="med"/>
          </a:ln>
        </p:spPr>
      </p:cxnSp>
      <p:cxnSp>
        <p:nvCxnSpPr>
          <p:cNvPr id="107" name="Google Shape;346;p40"/>
          <p:cNvCxnSpPr>
            <a:stCxn id="94" idx="2"/>
            <a:endCxn id="102" idx="0"/>
          </p:cNvCxnSpPr>
          <p:nvPr/>
        </p:nvCxnSpPr>
        <p:spPr>
          <a:xfrm flipH="1">
            <a:off x="4817880" y="1482120"/>
            <a:ext cx="2921760" cy="1863360"/>
          </a:xfrm>
          <a:prstGeom prst="straightConnector1">
            <a:avLst/>
          </a:prstGeom>
          <a:ln w="9525">
            <a:solidFill>
              <a:srgbClr val="5b9bd5"/>
            </a:solidFill>
            <a:miter/>
            <a:headEnd len="med" type="triangle" w="med"/>
            <a:tailEnd len="med" type="triangle" w="med"/>
          </a:ln>
        </p:spPr>
      </p:cxnSp>
      <p:sp>
        <p:nvSpPr>
          <p:cNvPr id="102" name="Google Shape;341;p40"/>
          <p:cNvSpPr/>
          <p:nvPr/>
        </p:nvSpPr>
        <p:spPr>
          <a:xfrm>
            <a:off x="3349080" y="3345120"/>
            <a:ext cx="2937960" cy="9640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2719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347;p40"/>
          <p:cNvSpPr/>
          <p:nvPr/>
        </p:nvSpPr>
        <p:spPr>
          <a:xfrm>
            <a:off x="3916080" y="3498840"/>
            <a:ext cx="193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Process Scheduler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Functions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348;p40"/>
          <p:cNvSpPr/>
          <p:nvPr/>
        </p:nvSpPr>
        <p:spPr>
          <a:xfrm>
            <a:off x="3418920" y="5337360"/>
            <a:ext cx="1855440" cy="9637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2719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Google Shape;349;p40"/>
          <p:cNvSpPr/>
          <p:nvPr/>
        </p:nvSpPr>
        <p:spPr>
          <a:xfrm>
            <a:off x="10324800" y="5337360"/>
            <a:ext cx="772920" cy="727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2719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1" name="Google Shape;350;p40"/>
          <p:cNvCxnSpPr>
            <a:stCxn id="110" idx="1"/>
            <a:endCxn id="112" idx="3"/>
          </p:cNvCxnSpPr>
          <p:nvPr/>
        </p:nvCxnSpPr>
        <p:spPr>
          <a:xfrm flipH="1">
            <a:off x="8015760" y="5700960"/>
            <a:ext cx="2309400" cy="24840"/>
          </a:xfrm>
          <a:prstGeom prst="straightConnector1">
            <a:avLst/>
          </a:prstGeom>
          <a:ln w="9525">
            <a:solidFill>
              <a:srgbClr val="5b9bd5"/>
            </a:solidFill>
            <a:miter/>
            <a:headEnd len="med" type="triangle" w="med"/>
            <a:tailEnd len="med" type="triangle" w="med"/>
          </a:ln>
        </p:spPr>
      </p:cxnSp>
      <p:pic>
        <p:nvPicPr>
          <p:cNvPr id="113" name="Google Shape;352;p40" descr=""/>
          <p:cNvPicPr/>
          <p:nvPr/>
        </p:nvPicPr>
        <p:blipFill>
          <a:blip r:embed="rId1"/>
          <a:stretch/>
        </p:blipFill>
        <p:spPr>
          <a:xfrm>
            <a:off x="10461600" y="5414760"/>
            <a:ext cx="569880" cy="572400"/>
          </a:xfrm>
          <a:prstGeom prst="rect">
            <a:avLst/>
          </a:prstGeom>
          <a:ln w="0">
            <a:noFill/>
          </a:ln>
        </p:spPr>
      </p:pic>
      <p:sp>
        <p:nvSpPr>
          <p:cNvPr id="114" name="Google Shape;353;p40"/>
          <p:cNvSpPr/>
          <p:nvPr/>
        </p:nvSpPr>
        <p:spPr>
          <a:xfrm>
            <a:off x="3478680" y="5378040"/>
            <a:ext cx="1567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Timer Interrupt Handler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Google Shape;351;p40" descr=""/>
          <p:cNvPicPr/>
          <p:nvPr/>
        </p:nvPicPr>
        <p:blipFill>
          <a:blip r:embed="rId2"/>
          <a:stretch/>
        </p:blipFill>
        <p:spPr>
          <a:xfrm>
            <a:off x="7233480" y="5334480"/>
            <a:ext cx="782280" cy="782280"/>
          </a:xfrm>
          <a:prstGeom prst="rect">
            <a:avLst/>
          </a:prstGeom>
          <a:ln w="0">
            <a:noFill/>
          </a:ln>
        </p:spPr>
      </p:pic>
      <p:cxnSp>
        <p:nvCxnSpPr>
          <p:cNvPr id="116" name="Google Shape;354;p40"/>
          <p:cNvCxnSpPr/>
          <p:nvPr/>
        </p:nvCxnSpPr>
        <p:spPr>
          <a:xfrm flipH="1">
            <a:off x="5274720" y="5749560"/>
            <a:ext cx="1893240" cy="30960"/>
          </a:xfrm>
          <a:prstGeom prst="straightConnector1">
            <a:avLst/>
          </a:prstGeom>
          <a:ln w="9525">
            <a:solidFill>
              <a:srgbClr val="5b9bd5"/>
            </a:solidFill>
            <a:miter/>
            <a:headEnd len="med" type="triangle" w="med"/>
            <a:tailEnd len="med" type="triangle" w="med"/>
          </a:ln>
        </p:spPr>
      </p:cxnSp>
      <p:cxnSp>
        <p:nvCxnSpPr>
          <p:cNvPr id="117" name="Google Shape;355;p40"/>
          <p:cNvCxnSpPr>
            <a:stCxn id="102" idx="2"/>
          </p:cNvCxnSpPr>
          <p:nvPr/>
        </p:nvCxnSpPr>
        <p:spPr>
          <a:xfrm>
            <a:off x="4817880" y="4309200"/>
            <a:ext cx="720" cy="965520"/>
          </a:xfrm>
          <a:prstGeom prst="straightConnector1">
            <a:avLst/>
          </a:prstGeom>
          <a:ln w="9525">
            <a:solidFill>
              <a:srgbClr val="5b9bd5"/>
            </a:solidFill>
            <a:miter/>
            <a:headEnd len="med" type="triangle" w="med"/>
            <a:tailEnd len="med" type="triangle" w="med"/>
          </a:ln>
        </p:spPr>
      </p:cxnSp>
      <p:cxnSp>
        <p:nvCxnSpPr>
          <p:cNvPr id="118" name="Google Shape;356;p40"/>
          <p:cNvCxnSpPr/>
          <p:nvPr/>
        </p:nvCxnSpPr>
        <p:spPr>
          <a:xfrm flipH="1">
            <a:off x="397440" y="2822400"/>
            <a:ext cx="10545840" cy="96480"/>
          </a:xfrm>
          <a:prstGeom prst="straightConnector1">
            <a:avLst/>
          </a:prstGeom>
          <a:ln w="38100">
            <a:solidFill>
              <a:srgbClr val="5b9bd5"/>
            </a:solidFill>
            <a:prstDash val="dot"/>
            <a:miter/>
          </a:ln>
        </p:spPr>
      </p:cxnSp>
      <p:sp>
        <p:nvSpPr>
          <p:cNvPr id="119" name="Google Shape;357;p40"/>
          <p:cNvSpPr/>
          <p:nvPr/>
        </p:nvSpPr>
        <p:spPr>
          <a:xfrm>
            <a:off x="7958880" y="3508200"/>
            <a:ext cx="786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Kernel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Google Shape;358;p40"/>
          <p:cNvSpPr/>
          <p:nvPr/>
        </p:nvSpPr>
        <p:spPr>
          <a:xfrm>
            <a:off x="7895520" y="1770480"/>
            <a:ext cx="179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Application Layer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359;p40"/>
          <p:cNvSpPr/>
          <p:nvPr/>
        </p:nvSpPr>
        <p:spPr>
          <a:xfrm>
            <a:off x="10245600" y="4689720"/>
            <a:ext cx="1154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Real Time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Clock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Intel’s 64-Bit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1920960" y="1200240"/>
            <a:ext cx="7895880" cy="497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4623"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Intel Attempted Radical Shift from IA32 to IA64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Totally different architecture (Itanium)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Executes IA32 code only as legacy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Performance disappointing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AMD Stepped in with Evolutionary Solution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x86-64 (now called “AMD64”)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Intel Felt Obligated to Focus on IA64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Hard to admit mistake or that AMD is better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2004: Intel Announces EM64T extension to IA32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Extended Memory 64-bit Technology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Almost identical to x86-64!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All but low-end x86 processors support x86-64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But, lots of code still runs in 32-bit mode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370;p42"/>
          <p:cNvSpPr/>
          <p:nvPr/>
        </p:nvSpPr>
        <p:spPr>
          <a:xfrm>
            <a:off x="2590920" y="1066680"/>
            <a:ext cx="3200040" cy="2209320"/>
          </a:xfrm>
          <a:prstGeom prst="rect">
            <a:avLst/>
          </a:prstGeom>
          <a:solidFill>
            <a:srgbClr val="efbfbf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CPU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828800" y="304920"/>
            <a:ext cx="722592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Assembly Programmer’s View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2043000" y="3352680"/>
            <a:ext cx="4357440" cy="30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763"/>
          </a:bodyPr>
          <a:p>
            <a:pPr marL="227160" indent="-2271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Programmer-Visible State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PC: Program counter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98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Address of next instruction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8398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Called “EIP” (IA32) or “RIP” (x86-64)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Register file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98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Heavily used program data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Condition codes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98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Store status information about most recent arithmetic operation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8398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Used for conditional branching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373;p42"/>
          <p:cNvSpPr/>
          <p:nvPr/>
        </p:nvSpPr>
        <p:spPr>
          <a:xfrm>
            <a:off x="2933640" y="1981080"/>
            <a:ext cx="533160" cy="456840"/>
          </a:xfrm>
          <a:prstGeom prst="rect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PC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374;p42"/>
          <p:cNvSpPr/>
          <p:nvPr/>
        </p:nvSpPr>
        <p:spPr>
          <a:xfrm>
            <a:off x="3886200" y="1371600"/>
            <a:ext cx="1371240" cy="761760"/>
          </a:xfrm>
          <a:prstGeom prst="rect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Registers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375;p42"/>
          <p:cNvSpPr/>
          <p:nvPr/>
        </p:nvSpPr>
        <p:spPr>
          <a:xfrm>
            <a:off x="7543800" y="1066680"/>
            <a:ext cx="1752120" cy="22093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Memory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376;p42"/>
          <p:cNvSpPr/>
          <p:nvPr/>
        </p:nvSpPr>
        <p:spPr>
          <a:xfrm>
            <a:off x="7848720" y="1730160"/>
            <a:ext cx="1142640" cy="10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Code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Data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Stack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1" name="Google Shape;377;p42"/>
          <p:cNvCxnSpPr/>
          <p:nvPr/>
        </p:nvCxnSpPr>
        <p:spPr>
          <a:xfrm>
            <a:off x="5790960" y="1701720"/>
            <a:ext cx="175320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lg" type="triangle" w="lg"/>
          </a:ln>
        </p:spPr>
      </p:cxnSp>
      <p:cxnSp>
        <p:nvCxnSpPr>
          <p:cNvPr id="132" name="Google Shape;378;p42"/>
          <p:cNvCxnSpPr/>
          <p:nvPr/>
        </p:nvCxnSpPr>
        <p:spPr>
          <a:xfrm>
            <a:off x="5790960" y="2234880"/>
            <a:ext cx="175320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headEnd len="lg" type="triangle" w="lg"/>
            <a:tailEnd len="lg" type="triangle" w="lg"/>
          </a:ln>
        </p:spPr>
      </p:cxnSp>
      <p:cxnSp>
        <p:nvCxnSpPr>
          <p:cNvPr id="133" name="Google Shape;379;p42"/>
          <p:cNvCxnSpPr/>
          <p:nvPr/>
        </p:nvCxnSpPr>
        <p:spPr>
          <a:xfrm>
            <a:off x="5790960" y="2768400"/>
            <a:ext cx="175320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headEnd len="lg" type="triangle" w="lg"/>
          </a:ln>
        </p:spPr>
      </p:cxnSp>
      <p:sp>
        <p:nvSpPr>
          <p:cNvPr id="134" name="Google Shape;380;p42"/>
          <p:cNvSpPr/>
          <p:nvPr/>
        </p:nvSpPr>
        <p:spPr>
          <a:xfrm>
            <a:off x="5791320" y="1295280"/>
            <a:ext cx="175212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Addresses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381;p42"/>
          <p:cNvSpPr/>
          <p:nvPr/>
        </p:nvSpPr>
        <p:spPr>
          <a:xfrm>
            <a:off x="5791320" y="1854360"/>
            <a:ext cx="175212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Data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Google Shape;382;p42"/>
          <p:cNvSpPr/>
          <p:nvPr/>
        </p:nvSpPr>
        <p:spPr>
          <a:xfrm>
            <a:off x="5791320" y="2387520"/>
            <a:ext cx="167616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Instructions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383;p42"/>
          <p:cNvSpPr/>
          <p:nvPr/>
        </p:nvSpPr>
        <p:spPr>
          <a:xfrm>
            <a:off x="3886200" y="2286000"/>
            <a:ext cx="1371240" cy="685440"/>
          </a:xfrm>
          <a:prstGeom prst="rect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Condition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Codes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896160" y="3701880"/>
            <a:ext cx="3619080" cy="156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291960" indent="-1778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Memory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5716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Byte addressable array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5716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Code and user data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5716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Stack to support procedures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389;p43"/>
          <p:cNvSpPr/>
          <p:nvPr/>
        </p:nvSpPr>
        <p:spPr>
          <a:xfrm>
            <a:off x="2625840" y="2514600"/>
            <a:ext cx="7268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text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390;p43"/>
          <p:cNvSpPr/>
          <p:nvPr/>
        </p:nvSpPr>
        <p:spPr>
          <a:xfrm>
            <a:off x="2625840" y="3655800"/>
            <a:ext cx="7268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text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oogle Shape;391;p43"/>
          <p:cNvSpPr/>
          <p:nvPr/>
        </p:nvSpPr>
        <p:spPr>
          <a:xfrm>
            <a:off x="2352600" y="4724280"/>
            <a:ext cx="99972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binary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392;p43"/>
          <p:cNvSpPr/>
          <p:nvPr/>
        </p:nvSpPr>
        <p:spPr>
          <a:xfrm>
            <a:off x="2352600" y="5867280"/>
            <a:ext cx="99972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binary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3" name="Google Shape;393;p43"/>
          <p:cNvCxnSpPr/>
          <p:nvPr/>
        </p:nvCxnSpPr>
        <p:spPr>
          <a:xfrm>
            <a:off x="5513040" y="2977200"/>
            <a:ext cx="360" cy="680760"/>
          </a:xfrm>
          <a:prstGeom prst="straightConnector1">
            <a:avLst/>
          </a:prstGeom>
          <a:ln w="28575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44" name="Google Shape;394;p43"/>
          <p:cNvSpPr/>
          <p:nvPr/>
        </p:nvSpPr>
        <p:spPr>
          <a:xfrm>
            <a:off x="5819760" y="3124080"/>
            <a:ext cx="25016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Compiler (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gcc -S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Google Shape;395;p43"/>
          <p:cNvSpPr/>
          <p:nvPr/>
        </p:nvSpPr>
        <p:spPr>
          <a:xfrm>
            <a:off x="5803920" y="4191120"/>
            <a:ext cx="30477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Assembler (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gcc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 or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as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Google Shape;396;p43"/>
          <p:cNvSpPr/>
          <p:nvPr/>
        </p:nvSpPr>
        <p:spPr>
          <a:xfrm>
            <a:off x="5819760" y="5334120"/>
            <a:ext cx="263808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Linker (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gcc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 or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ld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397;p43"/>
          <p:cNvSpPr/>
          <p:nvPr/>
        </p:nvSpPr>
        <p:spPr>
          <a:xfrm>
            <a:off x="3897360" y="2579760"/>
            <a:ext cx="3263400" cy="397080"/>
          </a:xfrm>
          <a:prstGeom prst="rect">
            <a:avLst/>
          </a:prstGeom>
          <a:solidFill>
            <a:srgbClr val="f6f5bd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C program (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p1.c p2.c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398;p43"/>
          <p:cNvSpPr/>
          <p:nvPr/>
        </p:nvSpPr>
        <p:spPr>
          <a:xfrm>
            <a:off x="3782880" y="3657600"/>
            <a:ext cx="3492000" cy="397080"/>
          </a:xfrm>
          <a:prstGeom prst="rect">
            <a:avLst/>
          </a:prstGeom>
          <a:solidFill>
            <a:srgbClr val="f6f5bd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Asm program (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p1.s p2.s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399;p43"/>
          <p:cNvSpPr/>
          <p:nvPr/>
        </p:nvSpPr>
        <p:spPr>
          <a:xfrm>
            <a:off x="3668760" y="4800600"/>
            <a:ext cx="3720600" cy="397080"/>
          </a:xfrm>
          <a:prstGeom prst="rect">
            <a:avLst/>
          </a:prstGeom>
          <a:solidFill>
            <a:srgbClr val="fbe4d4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Object program (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p1.o p2.o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400;p43"/>
          <p:cNvSpPr/>
          <p:nvPr/>
        </p:nvSpPr>
        <p:spPr>
          <a:xfrm>
            <a:off x="3655080" y="5943600"/>
            <a:ext cx="3747600" cy="397080"/>
          </a:xfrm>
          <a:prstGeom prst="rect">
            <a:avLst/>
          </a:prstGeom>
          <a:solidFill>
            <a:srgbClr val="ff9999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Executable program (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1" name="Google Shape;401;p43"/>
          <p:cNvCxnSpPr/>
          <p:nvPr/>
        </p:nvCxnSpPr>
        <p:spPr>
          <a:xfrm>
            <a:off x="5513040" y="4055040"/>
            <a:ext cx="360" cy="7268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52" name="Google Shape;402;p43"/>
          <p:cNvCxnSpPr/>
          <p:nvPr/>
        </p:nvCxnSpPr>
        <p:spPr>
          <a:xfrm>
            <a:off x="5513040" y="5198040"/>
            <a:ext cx="360" cy="7268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53" name="Google Shape;403;p43"/>
          <p:cNvSpPr/>
          <p:nvPr/>
        </p:nvSpPr>
        <p:spPr>
          <a:xfrm>
            <a:off x="8381880" y="4800600"/>
            <a:ext cx="2044440" cy="704880"/>
          </a:xfrm>
          <a:prstGeom prst="rect">
            <a:avLst/>
          </a:prstGeom>
          <a:solidFill>
            <a:srgbClr val="fbe4d4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Static libraries (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.a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4" name="Google Shape;404;p43"/>
          <p:cNvCxnSpPr/>
          <p:nvPr/>
        </p:nvCxnSpPr>
        <p:spPr>
          <a:xfrm flipH="1">
            <a:off x="7389720" y="5333760"/>
            <a:ext cx="990720" cy="914760"/>
          </a:xfrm>
          <a:prstGeom prst="straightConnector1">
            <a:avLst/>
          </a:prstGeom>
          <a:ln w="28575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905120" y="341280"/>
            <a:ext cx="699732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Turning C into Object Code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1814400" y="990720"/>
            <a:ext cx="8307000" cy="146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7835"/>
          </a:bodyPr>
          <a:p>
            <a:pPr lvl="1" marL="560520" indent="-22212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Code in files 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p1.c p2.c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Compile with command: 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gcc –O1 p1.c p2.c -o p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8398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Use basic optimizations (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-O1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98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Put resulting binary in file 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752480" y="434880"/>
            <a:ext cx="6845040" cy="55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Compiling Into Assembly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1752480" y="1143000"/>
            <a:ext cx="1622160" cy="3632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fontScale="74983"/>
          </a:bodyPr>
          <a:p>
            <a:pPr marL="228600" indent="-2286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C Code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413;p44"/>
          <p:cNvSpPr/>
          <p:nvPr/>
        </p:nvSpPr>
        <p:spPr>
          <a:xfrm>
            <a:off x="1828800" y="1600200"/>
            <a:ext cx="3882600" cy="147456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sum(int x, int y)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{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t = x+y;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return t;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}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414;p44"/>
          <p:cNvSpPr/>
          <p:nvPr/>
        </p:nvSpPr>
        <p:spPr>
          <a:xfrm>
            <a:off x="5943600" y="1111320"/>
            <a:ext cx="411444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marL="223920" indent="-22392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Calibri"/>
                <a:ea typeface="Calibri"/>
              </a:rPr>
              <a:t>Generated IA32 Assembly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415;p44"/>
          <p:cNvSpPr/>
          <p:nvPr/>
        </p:nvSpPr>
        <p:spPr>
          <a:xfrm>
            <a:off x="6019920" y="1592280"/>
            <a:ext cx="4195440" cy="202824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sum: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pushl 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%esp,%ebp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12(%ebp),%eax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addl 8(%ebp),%eax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popl 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ret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416;p44"/>
          <p:cNvSpPr/>
          <p:nvPr/>
        </p:nvSpPr>
        <p:spPr>
          <a:xfrm>
            <a:off x="1981080" y="4572000"/>
            <a:ext cx="746712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Obtain with command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/usr/local/bin/gcc –O1 -S code.c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Produces file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code.s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828800" y="493560"/>
            <a:ext cx="838152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Assembly Characteristics: Data Types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1814400" y="1251000"/>
            <a:ext cx="8548200" cy="553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“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Integer” data of 1, 2, or 4 bytes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Data values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Addresses (untyped pointers)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50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Floating point data of 4, 8, or 10 bytes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50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No aggregate types such as arrays or structures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Just contiguously allocated bytes in memory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828800" y="493560"/>
            <a:ext cx="838152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Assembly Characteristics: Operations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1814400" y="1327320"/>
            <a:ext cx="8548200" cy="49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Perform arithmetic function on register or memory data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50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Transfer data between memory and register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Load data from memory into register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Store register data into memory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50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Transfer control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Unconditional jumps to/from procedures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Conditional branches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433;p47"/>
          <p:cNvSpPr/>
          <p:nvPr/>
        </p:nvSpPr>
        <p:spPr>
          <a:xfrm>
            <a:off x="1866960" y="914400"/>
            <a:ext cx="251424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marL="223920" indent="-22392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Calibri"/>
                <a:ea typeface="Calibri"/>
              </a:rPr>
              <a:t>Code for </a:t>
            </a:r>
            <a:r>
              <a:rPr b="0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sum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434;p47"/>
          <p:cNvSpPr/>
          <p:nvPr/>
        </p:nvSpPr>
        <p:spPr>
          <a:xfrm>
            <a:off x="1868400" y="1447920"/>
            <a:ext cx="2511000" cy="34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0x401040 &lt;sum&gt;:    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0x55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0x89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0xe5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0x8b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0x45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0x0c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0x03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0x45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0x08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0x5d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0xc3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981080" y="304920"/>
            <a:ext cx="552420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Object Code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5029200" y="114300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7835"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Assembler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Translates </a:t>
            </a:r>
            <a:r>
              <a:rPr b="0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.s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into </a:t>
            </a:r>
            <a:r>
              <a:rPr b="0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.o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Binary encoding of each instruction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Nearly-complete image of executable code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Missing linkages between code in different files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Linker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Resolves references between files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Combines with static run-time libraries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E.g., code for 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malloc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, 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printf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Some libraries are </a:t>
            </a:r>
            <a:r>
              <a:rPr b="0" i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dynamically linked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Linking occurs when program begins execution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437;p47"/>
          <p:cNvSpPr/>
          <p:nvPr/>
        </p:nvSpPr>
        <p:spPr>
          <a:xfrm>
            <a:off x="2819520" y="4038480"/>
            <a:ext cx="236196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lvl="1" marL="560520" indent="-222120">
              <a:lnSpc>
                <a:spcPct val="100000"/>
              </a:lnSpc>
              <a:buClr>
                <a:srgbClr val="c00000"/>
              </a:buClr>
              <a:buFont typeface="Calibri"/>
              <a:buChar char="•"/>
            </a:pPr>
            <a:r>
              <a:rPr b="0" lang="en-US" sz="1800" spc="-1" strike="noStrike">
                <a:solidFill>
                  <a:srgbClr val="c00000"/>
                </a:solidFill>
                <a:latin typeface="Calibri"/>
                <a:ea typeface="Calibri"/>
              </a:rPr>
              <a:t>Total of 11 bytes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100000"/>
              </a:lnSpc>
              <a:spcBef>
                <a:spcPts val="541"/>
              </a:spcBef>
              <a:buClr>
                <a:srgbClr val="c00000"/>
              </a:buClr>
              <a:buFont typeface="Calibri"/>
              <a:buChar char="•"/>
            </a:pPr>
            <a:r>
              <a:rPr b="0" lang="en-US" sz="1800" spc="-1" strike="noStrike">
                <a:solidFill>
                  <a:srgbClr val="c00000"/>
                </a:solidFill>
                <a:latin typeface="Calibri"/>
                <a:ea typeface="Calibri"/>
              </a:rPr>
              <a:t>Each instruction 1, 2, or 3 bytes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100000"/>
              </a:lnSpc>
              <a:spcBef>
                <a:spcPts val="541"/>
              </a:spcBef>
              <a:buClr>
                <a:srgbClr val="c00000"/>
              </a:buClr>
              <a:buFont typeface="Calibri"/>
              <a:buChar char="•"/>
            </a:pPr>
            <a:r>
              <a:rPr b="0" lang="en-US" sz="1800" spc="-1" strike="noStrike">
                <a:solidFill>
                  <a:srgbClr val="c00000"/>
                </a:solidFill>
                <a:latin typeface="Calibri"/>
                <a:ea typeface="Calibri"/>
              </a:rPr>
              <a:t>Starts at address </a:t>
            </a:r>
            <a:r>
              <a:rPr b="0" lang="en-US" sz="1800" spc="-1" strike="noStrike">
                <a:solidFill>
                  <a:srgbClr val="c00000"/>
                </a:solidFill>
                <a:latin typeface="Courier New"/>
                <a:ea typeface="Courier New"/>
              </a:rPr>
              <a:t>0x401040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2057400" y="304920"/>
            <a:ext cx="726408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Machine Instruction Example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6095880" y="838080"/>
            <a:ext cx="4571640" cy="579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7835"/>
          </a:bodyPr>
          <a:p>
            <a:pPr marL="223920" indent="-22392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C Code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Add two signed integers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Assembly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Add 2 4-byte integers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8398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“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Long” words in GCC parlance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98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Same instruction whether signed or unsigned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Operands: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839880" indent="-16524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x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: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Register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%eax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839880" indent="-16524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y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: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Memory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M[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%ebp+8]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839880" indent="-16524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t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: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Register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%eax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3" marL="1120680" indent="-1666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Return function value in </a:t>
            </a: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%eax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Object Code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3-byte instruction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Stored at address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0x80483ca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444;p48"/>
          <p:cNvSpPr/>
          <p:nvPr/>
        </p:nvSpPr>
        <p:spPr>
          <a:xfrm>
            <a:off x="2057400" y="1143000"/>
            <a:ext cx="3882600" cy="37584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t = x+y;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445;p48"/>
          <p:cNvSpPr/>
          <p:nvPr/>
        </p:nvSpPr>
        <p:spPr>
          <a:xfrm>
            <a:off x="2057400" y="2286000"/>
            <a:ext cx="3885840" cy="37584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addl 8(%ebp),%eax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446;p48"/>
          <p:cNvSpPr/>
          <p:nvPr/>
        </p:nvSpPr>
        <p:spPr>
          <a:xfrm>
            <a:off x="2057400" y="5486400"/>
            <a:ext cx="3885840" cy="37584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0x80483ca:  03 45 08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447;p48"/>
          <p:cNvSpPr/>
          <p:nvPr/>
        </p:nvSpPr>
        <p:spPr>
          <a:xfrm>
            <a:off x="2286000" y="2819520"/>
            <a:ext cx="3428640" cy="20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Similar to expression: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x += 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More precisely: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eax;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*ebp;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eax += ebp[2]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452;p49"/>
          <p:cNvSpPr/>
          <p:nvPr/>
        </p:nvSpPr>
        <p:spPr>
          <a:xfrm>
            <a:off x="2425680" y="1035000"/>
            <a:ext cx="26031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marL="223920" indent="-22392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Calibri"/>
                <a:ea typeface="Calibri"/>
              </a:rPr>
              <a:t>Disassembled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905120" y="380880"/>
            <a:ext cx="681948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Disassembling Object Code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1981080" y="4114800"/>
            <a:ext cx="8140320" cy="22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336"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Disassembler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685800" indent="-2286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objdump -d p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Useful tool for examining object code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Analyzes bit pattern of series of instructions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Produces approximate rendition of assembly code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Can be run on either </a:t>
            </a:r>
            <a:r>
              <a:rPr b="0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a.out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(complete executable) or </a:t>
            </a:r>
            <a:r>
              <a:rPr b="0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.o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file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455;p49"/>
          <p:cNvSpPr/>
          <p:nvPr/>
        </p:nvSpPr>
        <p:spPr>
          <a:xfrm>
            <a:off x="2629080" y="1629000"/>
            <a:ext cx="6095520" cy="202824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080483c4 &lt;sum&gt;: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80483c4:  55        push   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80483c5:  89 e5     mov    %esp,%ebp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80483c7:  8b 45 0c  mov    0xc(%ebp),%eax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80483ca:  03 45 08  add    0x8(%ebp),%eax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80483cd:  5d        pop    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80483ce:  c3        ret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460;p50"/>
          <p:cNvSpPr/>
          <p:nvPr/>
        </p:nvSpPr>
        <p:spPr>
          <a:xfrm>
            <a:off x="5715000" y="914400"/>
            <a:ext cx="26031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marL="223920" indent="-22392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Calibri"/>
                <a:ea typeface="Calibri"/>
              </a:rPr>
              <a:t>Disassembled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461;p50"/>
          <p:cNvSpPr/>
          <p:nvPr/>
        </p:nvSpPr>
        <p:spPr>
          <a:xfrm>
            <a:off x="3962520" y="1704960"/>
            <a:ext cx="6552720" cy="202824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Dump of assembler code for function sum: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0x080483c4 &lt;sum+0&gt;:     push   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0x080483c5 &lt;sum+1&gt;:     mov    %esp,%ebp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0x080483c7 &lt;sum+3&gt;:     mov    0xc(%ebp),%eax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0x080483ca &lt;sum+6&gt;:     add    0x8(%ebp),%eax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0x080483cd &lt;sum+9&gt;:     pop    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0x080483ce &lt;sum+10&gt;:    ret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2057400" y="417600"/>
            <a:ext cx="624816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Alternate Disassembly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3821040" y="4195800"/>
            <a:ext cx="6300360" cy="22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336"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Within gdb Debugger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685800" indent="-2286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gdb p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685800" indent="-2286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disassemble sum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Disassemble procedure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685800" indent="-2286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x/11xb sum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Examine the 11 bytes starting at </a:t>
            </a:r>
            <a:r>
              <a:rPr b="0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sum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685800" indent="-7632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464;p50"/>
          <p:cNvSpPr/>
          <p:nvPr/>
        </p:nvSpPr>
        <p:spPr>
          <a:xfrm>
            <a:off x="2209680" y="1066680"/>
            <a:ext cx="130788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marL="223920" indent="-22392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Calibri"/>
                <a:ea typeface="Calibri"/>
              </a:rPr>
              <a:t>Object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465;p50"/>
          <p:cNvSpPr/>
          <p:nvPr/>
        </p:nvSpPr>
        <p:spPr>
          <a:xfrm>
            <a:off x="2133720" y="1523880"/>
            <a:ext cx="1523520" cy="3413520"/>
          </a:xfrm>
          <a:prstGeom prst="rect">
            <a:avLst/>
          </a:prstGeom>
          <a:solidFill>
            <a:srgbClr val="fbe4d4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0x401040: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0x55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0x89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0xe5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0x8b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0x45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0x0c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0x03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0x45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0x08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0x5d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0xc3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981080" y="569880"/>
            <a:ext cx="714960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What Can be Disassembled?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1814400" y="5551560"/>
            <a:ext cx="8624520" cy="13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Anything that can be interpreted as executable code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Disassembler examines bytes and reconstructs assembly source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472;p51"/>
          <p:cNvSpPr/>
          <p:nvPr/>
        </p:nvSpPr>
        <p:spPr>
          <a:xfrm>
            <a:off x="2057400" y="1585800"/>
            <a:ext cx="8152920" cy="367164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 objdump -d WINWORD.EXE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WINWORD.EXE:   file format pei-i386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No symbols in "WINWORD.EXE".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Disassembly of section .text: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30001000 &lt;.text&gt;: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30001000:  55             push   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30001001:  8b ec          mov    %esp,%ebp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30001003:  6a ff          push   $0xffffffff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30001005:  68 90 10 00 30 push   $0x30001090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3000100a:  68 91 dc 4c 30 push   $0x304cdc91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Integer Registers (IA32)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2" name="Google Shape;479;p52"/>
          <p:cNvGrpSpPr/>
          <p:nvPr/>
        </p:nvGrpSpPr>
        <p:grpSpPr>
          <a:xfrm>
            <a:off x="2819520" y="1333440"/>
            <a:ext cx="5714640" cy="4533840"/>
            <a:chOff x="2819520" y="1333440"/>
            <a:chExt cx="5714640" cy="4533840"/>
          </a:xfrm>
        </p:grpSpPr>
        <p:sp>
          <p:nvSpPr>
            <p:cNvPr id="193" name="Google Shape;480;p52"/>
            <p:cNvSpPr/>
            <p:nvPr/>
          </p:nvSpPr>
          <p:spPr>
            <a:xfrm>
              <a:off x="2819520" y="1333440"/>
              <a:ext cx="5714640" cy="48204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%eax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" name="Google Shape;481;p52"/>
            <p:cNvSpPr/>
            <p:nvPr/>
          </p:nvSpPr>
          <p:spPr>
            <a:xfrm>
              <a:off x="2819520" y="1912320"/>
              <a:ext cx="5714640" cy="48204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%ecx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" name="Google Shape;482;p52"/>
            <p:cNvSpPr/>
            <p:nvPr/>
          </p:nvSpPr>
          <p:spPr>
            <a:xfrm>
              <a:off x="2819520" y="2491200"/>
              <a:ext cx="5714640" cy="48204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" name="Google Shape;483;p52"/>
            <p:cNvSpPr/>
            <p:nvPr/>
          </p:nvSpPr>
          <p:spPr>
            <a:xfrm>
              <a:off x="2819520" y="3069720"/>
              <a:ext cx="5714640" cy="48204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" name="Google Shape;484;p52"/>
            <p:cNvSpPr/>
            <p:nvPr/>
          </p:nvSpPr>
          <p:spPr>
            <a:xfrm>
              <a:off x="2819520" y="3648600"/>
              <a:ext cx="5714640" cy="48204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" name="Google Shape;485;p52"/>
            <p:cNvSpPr/>
            <p:nvPr/>
          </p:nvSpPr>
          <p:spPr>
            <a:xfrm>
              <a:off x="2819520" y="4227480"/>
              <a:ext cx="5714640" cy="48204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" name="Google Shape;486;p52"/>
            <p:cNvSpPr/>
            <p:nvPr/>
          </p:nvSpPr>
          <p:spPr>
            <a:xfrm>
              <a:off x="2819520" y="4806360"/>
              <a:ext cx="5714640" cy="4820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" name="Google Shape;487;p52"/>
            <p:cNvSpPr/>
            <p:nvPr/>
          </p:nvSpPr>
          <p:spPr>
            <a:xfrm>
              <a:off x="2819520" y="5385240"/>
              <a:ext cx="5714640" cy="4820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1" name="Google Shape;488;p52"/>
          <p:cNvGrpSpPr/>
          <p:nvPr/>
        </p:nvGrpSpPr>
        <p:grpSpPr>
          <a:xfrm>
            <a:off x="5708160" y="1405080"/>
            <a:ext cx="2819160" cy="342720"/>
            <a:chOff x="5708160" y="1405080"/>
            <a:chExt cx="2819160" cy="342720"/>
          </a:xfrm>
        </p:grpSpPr>
        <p:sp>
          <p:nvSpPr>
            <p:cNvPr id="202" name="Google Shape;489;p52"/>
            <p:cNvSpPr/>
            <p:nvPr/>
          </p:nvSpPr>
          <p:spPr>
            <a:xfrm>
              <a:off x="5708160" y="1405080"/>
              <a:ext cx="2819160" cy="342720"/>
            </a:xfrm>
            <a:prstGeom prst="rect">
              <a:avLst/>
            </a:prstGeom>
            <a:solidFill>
              <a:srgbClr val="d8d8d8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03" name="Google Shape;490;p52"/>
            <p:cNvCxnSpPr>
              <a:stCxn id="202" idx="0"/>
              <a:endCxn id="202" idx="2"/>
            </p:cNvCxnSpPr>
            <p:nvPr/>
          </p:nvCxnSpPr>
          <p:spPr>
            <a:xfrm>
              <a:off x="7117560" y="1405080"/>
              <a:ext cx="360" cy="3430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</p:grpSp>
      <p:grpSp>
        <p:nvGrpSpPr>
          <p:cNvPr id="204" name="Google Shape;491;p52"/>
          <p:cNvGrpSpPr/>
          <p:nvPr/>
        </p:nvGrpSpPr>
        <p:grpSpPr>
          <a:xfrm>
            <a:off x="5708160" y="1989000"/>
            <a:ext cx="2819160" cy="342720"/>
            <a:chOff x="5708160" y="1989000"/>
            <a:chExt cx="2819160" cy="342720"/>
          </a:xfrm>
        </p:grpSpPr>
        <p:sp>
          <p:nvSpPr>
            <p:cNvPr id="205" name="Google Shape;492;p52"/>
            <p:cNvSpPr/>
            <p:nvPr/>
          </p:nvSpPr>
          <p:spPr>
            <a:xfrm>
              <a:off x="5708160" y="1989000"/>
              <a:ext cx="2819160" cy="342720"/>
            </a:xfrm>
            <a:prstGeom prst="rect">
              <a:avLst/>
            </a:prstGeom>
            <a:solidFill>
              <a:srgbClr val="d8d8d8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06" name="Google Shape;493;p52"/>
            <p:cNvCxnSpPr>
              <a:stCxn id="205" idx="0"/>
              <a:endCxn id="205" idx="2"/>
            </p:cNvCxnSpPr>
            <p:nvPr/>
          </p:nvCxnSpPr>
          <p:spPr>
            <a:xfrm>
              <a:off x="7117560" y="1989000"/>
              <a:ext cx="360" cy="3430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</p:grpSp>
      <p:grpSp>
        <p:nvGrpSpPr>
          <p:cNvPr id="207" name="Google Shape;494;p52"/>
          <p:cNvGrpSpPr/>
          <p:nvPr/>
        </p:nvGrpSpPr>
        <p:grpSpPr>
          <a:xfrm>
            <a:off x="5708160" y="2558520"/>
            <a:ext cx="2819160" cy="342720"/>
            <a:chOff x="5708160" y="2558520"/>
            <a:chExt cx="2819160" cy="342720"/>
          </a:xfrm>
        </p:grpSpPr>
        <p:sp>
          <p:nvSpPr>
            <p:cNvPr id="208" name="Google Shape;495;p52"/>
            <p:cNvSpPr/>
            <p:nvPr/>
          </p:nvSpPr>
          <p:spPr>
            <a:xfrm>
              <a:off x="5708160" y="2558520"/>
              <a:ext cx="2819160" cy="342720"/>
            </a:xfrm>
            <a:prstGeom prst="rect">
              <a:avLst/>
            </a:prstGeom>
            <a:solidFill>
              <a:srgbClr val="d8d8d8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09" name="Google Shape;496;p52"/>
            <p:cNvCxnSpPr>
              <a:stCxn id="208" idx="0"/>
              <a:endCxn id="208" idx="2"/>
            </p:cNvCxnSpPr>
            <p:nvPr/>
          </p:nvCxnSpPr>
          <p:spPr>
            <a:xfrm>
              <a:off x="7117560" y="2558520"/>
              <a:ext cx="360" cy="3430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</p:grpSp>
      <p:grpSp>
        <p:nvGrpSpPr>
          <p:cNvPr id="210" name="Google Shape;497;p52"/>
          <p:cNvGrpSpPr/>
          <p:nvPr/>
        </p:nvGrpSpPr>
        <p:grpSpPr>
          <a:xfrm>
            <a:off x="5708160" y="3141360"/>
            <a:ext cx="2819160" cy="342720"/>
            <a:chOff x="5708160" y="3141360"/>
            <a:chExt cx="2819160" cy="342720"/>
          </a:xfrm>
        </p:grpSpPr>
        <p:sp>
          <p:nvSpPr>
            <p:cNvPr id="211" name="Google Shape;498;p52"/>
            <p:cNvSpPr/>
            <p:nvPr/>
          </p:nvSpPr>
          <p:spPr>
            <a:xfrm>
              <a:off x="5708160" y="3141360"/>
              <a:ext cx="2819160" cy="342720"/>
            </a:xfrm>
            <a:prstGeom prst="rect">
              <a:avLst/>
            </a:prstGeom>
            <a:solidFill>
              <a:srgbClr val="d8d8d8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12" name="Google Shape;499;p52"/>
            <p:cNvCxnSpPr>
              <a:stCxn id="211" idx="0"/>
              <a:endCxn id="211" idx="2"/>
            </p:cNvCxnSpPr>
            <p:nvPr/>
          </p:nvCxnSpPr>
          <p:spPr>
            <a:xfrm>
              <a:off x="7117560" y="3141360"/>
              <a:ext cx="360" cy="3430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</p:grpSp>
      <p:sp>
        <p:nvSpPr>
          <p:cNvPr id="213" name="Google Shape;500;p52"/>
          <p:cNvSpPr/>
          <p:nvPr/>
        </p:nvSpPr>
        <p:spPr>
          <a:xfrm>
            <a:off x="5708160" y="3717720"/>
            <a:ext cx="2819160" cy="342720"/>
          </a:xfrm>
          <a:prstGeom prst="rect">
            <a:avLst/>
          </a:prstGeom>
          <a:solidFill>
            <a:srgbClr val="d8d8d8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Google Shape;501;p52"/>
          <p:cNvSpPr/>
          <p:nvPr/>
        </p:nvSpPr>
        <p:spPr>
          <a:xfrm>
            <a:off x="5708160" y="4301640"/>
            <a:ext cx="2819160" cy="342720"/>
          </a:xfrm>
          <a:prstGeom prst="rect">
            <a:avLst/>
          </a:prstGeom>
          <a:solidFill>
            <a:srgbClr val="d8d8d8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Google Shape;502;p52"/>
          <p:cNvSpPr/>
          <p:nvPr/>
        </p:nvSpPr>
        <p:spPr>
          <a:xfrm>
            <a:off x="5708160" y="4871160"/>
            <a:ext cx="2819160" cy="3427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Google Shape;503;p52"/>
          <p:cNvSpPr/>
          <p:nvPr/>
        </p:nvSpPr>
        <p:spPr>
          <a:xfrm>
            <a:off x="5708160" y="5454360"/>
            <a:ext cx="2819160" cy="3427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504;p52"/>
          <p:cNvSpPr/>
          <p:nvPr/>
        </p:nvSpPr>
        <p:spPr>
          <a:xfrm>
            <a:off x="5105520" y="139176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%ax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505;p52"/>
          <p:cNvSpPr/>
          <p:nvPr/>
        </p:nvSpPr>
        <p:spPr>
          <a:xfrm>
            <a:off x="5105520" y="197532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%cx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Google Shape;506;p52"/>
          <p:cNvSpPr/>
          <p:nvPr/>
        </p:nvSpPr>
        <p:spPr>
          <a:xfrm>
            <a:off x="5105520" y="254124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%dx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507;p52"/>
          <p:cNvSpPr/>
          <p:nvPr/>
        </p:nvSpPr>
        <p:spPr>
          <a:xfrm>
            <a:off x="5105520" y="313164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%bx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Google Shape;508;p52"/>
          <p:cNvSpPr/>
          <p:nvPr/>
        </p:nvSpPr>
        <p:spPr>
          <a:xfrm>
            <a:off x="5105520" y="370800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%si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509;p52"/>
          <p:cNvSpPr/>
          <p:nvPr/>
        </p:nvSpPr>
        <p:spPr>
          <a:xfrm>
            <a:off x="5105520" y="428724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%di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Google Shape;510;p52"/>
          <p:cNvSpPr/>
          <p:nvPr/>
        </p:nvSpPr>
        <p:spPr>
          <a:xfrm>
            <a:off x="5105520" y="485784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%sp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Google Shape;511;p52"/>
          <p:cNvSpPr/>
          <p:nvPr/>
        </p:nvSpPr>
        <p:spPr>
          <a:xfrm>
            <a:off x="5105520" y="544356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Google Shape;512;p52"/>
          <p:cNvSpPr/>
          <p:nvPr/>
        </p:nvSpPr>
        <p:spPr>
          <a:xfrm>
            <a:off x="6095880" y="139176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%ah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Google Shape;513;p52"/>
          <p:cNvSpPr/>
          <p:nvPr/>
        </p:nvSpPr>
        <p:spPr>
          <a:xfrm>
            <a:off x="6095880" y="197532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%ch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Google Shape;514;p52"/>
          <p:cNvSpPr/>
          <p:nvPr/>
        </p:nvSpPr>
        <p:spPr>
          <a:xfrm>
            <a:off x="6095880" y="254124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%dh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Google Shape;515;p52"/>
          <p:cNvSpPr/>
          <p:nvPr/>
        </p:nvSpPr>
        <p:spPr>
          <a:xfrm>
            <a:off x="6095880" y="313164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%bh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Google Shape;516;p52"/>
          <p:cNvSpPr/>
          <p:nvPr/>
        </p:nvSpPr>
        <p:spPr>
          <a:xfrm>
            <a:off x="7467480" y="139176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%al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517;p52"/>
          <p:cNvSpPr/>
          <p:nvPr/>
        </p:nvSpPr>
        <p:spPr>
          <a:xfrm>
            <a:off x="7467480" y="197532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%cl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518;p52"/>
          <p:cNvSpPr/>
          <p:nvPr/>
        </p:nvSpPr>
        <p:spPr>
          <a:xfrm>
            <a:off x="7467480" y="254124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%dl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Google Shape;519;p52"/>
          <p:cNvSpPr/>
          <p:nvPr/>
        </p:nvSpPr>
        <p:spPr>
          <a:xfrm>
            <a:off x="7467480" y="3131640"/>
            <a:ext cx="5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%bl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oogle Shape;520;p52"/>
          <p:cNvSpPr/>
          <p:nvPr/>
        </p:nvSpPr>
        <p:spPr>
          <a:xfrm rot="5400000">
            <a:off x="6976080" y="4671000"/>
            <a:ext cx="279000" cy="282384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Google Shape;521;p52"/>
          <p:cNvSpPr/>
          <p:nvPr/>
        </p:nvSpPr>
        <p:spPr>
          <a:xfrm>
            <a:off x="5791320" y="6172200"/>
            <a:ext cx="2660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16-bit virtual registers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(backwards compatibility)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522;p52"/>
          <p:cNvSpPr/>
          <p:nvPr/>
        </p:nvSpPr>
        <p:spPr>
          <a:xfrm rot="10800000">
            <a:off x="2438640" y="1333800"/>
            <a:ext cx="279000" cy="337608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523;p52"/>
          <p:cNvSpPr/>
          <p:nvPr/>
        </p:nvSpPr>
        <p:spPr>
          <a:xfrm rot="16200000">
            <a:off x="1300320" y="2814480"/>
            <a:ext cx="172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general purpose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Google Shape;524;p52"/>
          <p:cNvSpPr/>
          <p:nvPr/>
        </p:nvSpPr>
        <p:spPr>
          <a:xfrm>
            <a:off x="9079200" y="1391760"/>
            <a:ext cx="1258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f7f7f"/>
                </a:solidFill>
                <a:latin typeface="Courier New"/>
                <a:ea typeface="Courier New"/>
              </a:rPr>
              <a:t>accumulate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525;p52"/>
          <p:cNvSpPr/>
          <p:nvPr/>
        </p:nvSpPr>
        <p:spPr>
          <a:xfrm>
            <a:off x="9079200" y="1975320"/>
            <a:ext cx="93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f7f7f"/>
                </a:solidFill>
                <a:latin typeface="Courier New"/>
                <a:ea typeface="Courier New"/>
              </a:rPr>
              <a:t>counter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oogle Shape;526;p52"/>
          <p:cNvSpPr/>
          <p:nvPr/>
        </p:nvSpPr>
        <p:spPr>
          <a:xfrm>
            <a:off x="9079200" y="2541240"/>
            <a:ext cx="613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f7f7f"/>
                </a:solidFill>
                <a:latin typeface="Courier New"/>
                <a:ea typeface="Courier New"/>
              </a:rPr>
              <a:t>data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527;p52"/>
          <p:cNvSpPr/>
          <p:nvPr/>
        </p:nvSpPr>
        <p:spPr>
          <a:xfrm>
            <a:off x="9079200" y="3131640"/>
            <a:ext cx="613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f7f7f"/>
                </a:solidFill>
                <a:latin typeface="Courier New"/>
                <a:ea typeface="Courier New"/>
              </a:rPr>
              <a:t>base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Google Shape;528;p52"/>
          <p:cNvSpPr/>
          <p:nvPr/>
        </p:nvSpPr>
        <p:spPr>
          <a:xfrm>
            <a:off x="9079200" y="3627000"/>
            <a:ext cx="9360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f7f7f"/>
                </a:solidFill>
                <a:latin typeface="Courier New"/>
                <a:ea typeface="Courier New"/>
              </a:rPr>
              <a:t>source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f7f7f"/>
                </a:solidFill>
                <a:latin typeface="Courier New"/>
                <a:ea typeface="Courier New"/>
              </a:rPr>
              <a:t>index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Google Shape;529;p52"/>
          <p:cNvSpPr/>
          <p:nvPr/>
        </p:nvSpPr>
        <p:spPr>
          <a:xfrm>
            <a:off x="9079200" y="4204800"/>
            <a:ext cx="13658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f7f7f"/>
                </a:solidFill>
                <a:latin typeface="Courier New"/>
                <a:ea typeface="Courier New"/>
              </a:rPr>
              <a:t>destination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f7f7f"/>
                </a:solidFill>
                <a:latin typeface="Courier New"/>
                <a:ea typeface="Courier New"/>
              </a:rPr>
              <a:t>index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Google Shape;530;p52"/>
          <p:cNvSpPr/>
          <p:nvPr/>
        </p:nvSpPr>
        <p:spPr>
          <a:xfrm>
            <a:off x="9079200" y="4701240"/>
            <a:ext cx="1149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stack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pointer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Google Shape;531;p52"/>
          <p:cNvSpPr/>
          <p:nvPr/>
        </p:nvSpPr>
        <p:spPr>
          <a:xfrm>
            <a:off x="9079200" y="5313600"/>
            <a:ext cx="1149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base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pointer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Google Shape;532;p52"/>
          <p:cNvSpPr/>
          <p:nvPr/>
        </p:nvSpPr>
        <p:spPr>
          <a:xfrm>
            <a:off x="8817840" y="649080"/>
            <a:ext cx="1849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Origin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(mostly obsolete)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1752480" y="457200"/>
            <a:ext cx="553680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Moving Data: IA32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1814400" y="1100160"/>
            <a:ext cx="8395920" cy="522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8908"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Moving Data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685800" indent="-2286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r>
              <a:rPr b="1" i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Source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, </a:t>
            </a:r>
            <a:r>
              <a:rPr b="1" i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Dest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Operand Types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  <a:tabLst>
                <a:tab algn="l" pos="0"/>
              </a:tabLst>
            </a:pPr>
            <a:r>
              <a:rPr b="1" i="1" lang="en-US" sz="2400" spc="-1" strike="noStrike">
                <a:solidFill>
                  <a:srgbClr val="c00000"/>
                </a:solidFill>
                <a:latin typeface="Calibri"/>
                <a:ea typeface="Calibri"/>
              </a:rPr>
              <a:t>Immediate: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Constant integer data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Example: 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$0x400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, 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$-533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Like C constant, but prefixed with 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‘$’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Encoded with 1, 2, or 4 bytes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  <a:tabLst>
                <a:tab algn="l" pos="0"/>
              </a:tabLst>
            </a:pPr>
            <a:r>
              <a:rPr b="1" i="1" lang="en-US" sz="2400" spc="-1" strike="noStrike">
                <a:solidFill>
                  <a:srgbClr val="c00000"/>
                </a:solidFill>
                <a:latin typeface="Calibri"/>
                <a:ea typeface="Calibri"/>
              </a:rPr>
              <a:t>Register: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One of 8 integer registers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Example: 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%eax, %edx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But 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%esp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and 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%ebp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reserved for special use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Others have special uses for particular instructions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  <a:tabLst>
                <a:tab algn="l" pos="0"/>
              </a:tabLst>
            </a:pPr>
            <a:r>
              <a:rPr b="1" i="1" lang="en-US" sz="2400" spc="-1" strike="noStrike">
                <a:solidFill>
                  <a:srgbClr val="c00000"/>
                </a:solidFill>
                <a:latin typeface="Calibri"/>
                <a:ea typeface="Calibri"/>
              </a:rPr>
              <a:t>Memory: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4 consecutive bytes of memory at address given by register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Simplest example: 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(%eax)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Various other “address modes”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8" name="Google Shape;539;p53"/>
          <p:cNvGrpSpPr/>
          <p:nvPr/>
        </p:nvGrpSpPr>
        <p:grpSpPr>
          <a:xfrm>
            <a:off x="7696080" y="609480"/>
            <a:ext cx="2514240" cy="3580920"/>
            <a:chOff x="7696080" y="609480"/>
            <a:chExt cx="2514240" cy="3580920"/>
          </a:xfrm>
        </p:grpSpPr>
        <p:sp>
          <p:nvSpPr>
            <p:cNvPr id="249" name="Google Shape;540;p53"/>
            <p:cNvSpPr/>
            <p:nvPr/>
          </p:nvSpPr>
          <p:spPr>
            <a:xfrm>
              <a:off x="7696080" y="609480"/>
              <a:ext cx="25142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%eax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" name="Google Shape;541;p53"/>
            <p:cNvSpPr/>
            <p:nvPr/>
          </p:nvSpPr>
          <p:spPr>
            <a:xfrm>
              <a:off x="7696080" y="1066680"/>
              <a:ext cx="25142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%ecx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" name="Google Shape;542;p53"/>
            <p:cNvSpPr/>
            <p:nvPr/>
          </p:nvSpPr>
          <p:spPr>
            <a:xfrm>
              <a:off x="7696080" y="1523880"/>
              <a:ext cx="25142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" name="Google Shape;543;p53"/>
            <p:cNvSpPr/>
            <p:nvPr/>
          </p:nvSpPr>
          <p:spPr>
            <a:xfrm>
              <a:off x="7696080" y="1981080"/>
              <a:ext cx="25142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" name="Google Shape;544;p53"/>
            <p:cNvSpPr/>
            <p:nvPr/>
          </p:nvSpPr>
          <p:spPr>
            <a:xfrm>
              <a:off x="7696080" y="2438280"/>
              <a:ext cx="25142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" name="Google Shape;545;p53"/>
            <p:cNvSpPr/>
            <p:nvPr/>
          </p:nvSpPr>
          <p:spPr>
            <a:xfrm>
              <a:off x="7696080" y="2895480"/>
              <a:ext cx="25142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" name="Google Shape;546;p53"/>
            <p:cNvSpPr/>
            <p:nvPr/>
          </p:nvSpPr>
          <p:spPr>
            <a:xfrm>
              <a:off x="7696080" y="3352680"/>
              <a:ext cx="25142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" name="Google Shape;547;p53"/>
            <p:cNvSpPr/>
            <p:nvPr/>
          </p:nvSpPr>
          <p:spPr>
            <a:xfrm>
              <a:off x="7696080" y="3809880"/>
              <a:ext cx="25142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1828800" y="685800"/>
            <a:ext cx="716544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 Operand Combinations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1981080" y="5943600"/>
            <a:ext cx="814032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336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c00000"/>
                </a:solidFill>
                <a:latin typeface="Calibri"/>
                <a:ea typeface="Calibri"/>
              </a:rPr>
              <a:t>Cannot do memory-memory transfer with a single instruction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Google Shape;554;p54"/>
          <p:cNvSpPr/>
          <p:nvPr/>
        </p:nvSpPr>
        <p:spPr>
          <a:xfrm>
            <a:off x="1752480" y="3772080"/>
            <a:ext cx="914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Google Shape;555;p54"/>
          <p:cNvSpPr/>
          <p:nvPr/>
        </p:nvSpPr>
        <p:spPr>
          <a:xfrm>
            <a:off x="3124080" y="2705040"/>
            <a:ext cx="7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Imm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556;p54"/>
          <p:cNvSpPr/>
          <p:nvPr/>
        </p:nvSpPr>
        <p:spPr>
          <a:xfrm>
            <a:off x="3124080" y="3772080"/>
            <a:ext cx="66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Reg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557;p54"/>
          <p:cNvSpPr/>
          <p:nvPr/>
        </p:nvSpPr>
        <p:spPr>
          <a:xfrm>
            <a:off x="3124080" y="4915080"/>
            <a:ext cx="83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Mem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Google Shape;558;p54"/>
          <p:cNvSpPr/>
          <p:nvPr/>
        </p:nvSpPr>
        <p:spPr>
          <a:xfrm>
            <a:off x="4343400" y="2476440"/>
            <a:ext cx="66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Reg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559;p54"/>
          <p:cNvSpPr/>
          <p:nvPr/>
        </p:nvSpPr>
        <p:spPr>
          <a:xfrm>
            <a:off x="4343400" y="2933640"/>
            <a:ext cx="83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Mem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Google Shape;560;p54"/>
          <p:cNvSpPr/>
          <p:nvPr/>
        </p:nvSpPr>
        <p:spPr>
          <a:xfrm>
            <a:off x="4343400" y="3619440"/>
            <a:ext cx="66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Reg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561;p54"/>
          <p:cNvSpPr/>
          <p:nvPr/>
        </p:nvSpPr>
        <p:spPr>
          <a:xfrm>
            <a:off x="4343400" y="4065480"/>
            <a:ext cx="83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Mem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562;p54"/>
          <p:cNvSpPr/>
          <p:nvPr/>
        </p:nvSpPr>
        <p:spPr>
          <a:xfrm>
            <a:off x="4343400" y="4915080"/>
            <a:ext cx="66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Reg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Google Shape;563;p54"/>
          <p:cNvSpPr/>
          <p:nvPr/>
        </p:nvSpPr>
        <p:spPr>
          <a:xfrm>
            <a:off x="2971800" y="1752480"/>
            <a:ext cx="10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Source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Google Shape;564;p54"/>
          <p:cNvSpPr/>
          <p:nvPr/>
        </p:nvSpPr>
        <p:spPr>
          <a:xfrm>
            <a:off x="4343400" y="1752480"/>
            <a:ext cx="76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Dest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Google Shape;565;p54"/>
          <p:cNvSpPr/>
          <p:nvPr/>
        </p:nvSpPr>
        <p:spPr>
          <a:xfrm>
            <a:off x="2819520" y="2629080"/>
            <a:ext cx="304560" cy="274284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Google Shape;566;p54"/>
          <p:cNvSpPr/>
          <p:nvPr/>
        </p:nvSpPr>
        <p:spPr>
          <a:xfrm>
            <a:off x="4038480" y="2552760"/>
            <a:ext cx="304560" cy="76176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Google Shape;567;p54"/>
          <p:cNvSpPr/>
          <p:nvPr/>
        </p:nvSpPr>
        <p:spPr>
          <a:xfrm>
            <a:off x="4038480" y="3695760"/>
            <a:ext cx="304560" cy="76176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Google Shape;568;p54"/>
          <p:cNvSpPr/>
          <p:nvPr/>
        </p:nvSpPr>
        <p:spPr>
          <a:xfrm>
            <a:off x="8381880" y="1752480"/>
            <a:ext cx="1306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 Analog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Google Shape;569;p54"/>
          <p:cNvSpPr/>
          <p:nvPr/>
        </p:nvSpPr>
        <p:spPr>
          <a:xfrm>
            <a:off x="5257800" y="2506680"/>
            <a:ext cx="231732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$0x4,%eax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570;p54"/>
          <p:cNvSpPr/>
          <p:nvPr/>
        </p:nvSpPr>
        <p:spPr>
          <a:xfrm>
            <a:off x="8197920" y="2506680"/>
            <a:ext cx="186012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temp = 0x4;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571;p54"/>
          <p:cNvSpPr/>
          <p:nvPr/>
        </p:nvSpPr>
        <p:spPr>
          <a:xfrm>
            <a:off x="5257800" y="2963880"/>
            <a:ext cx="277452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$-147,(%eax)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Google Shape;572;p54"/>
          <p:cNvSpPr/>
          <p:nvPr/>
        </p:nvSpPr>
        <p:spPr>
          <a:xfrm>
            <a:off x="8197920" y="2963880"/>
            <a:ext cx="170784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*p = -147;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573;p54"/>
          <p:cNvSpPr/>
          <p:nvPr/>
        </p:nvSpPr>
        <p:spPr>
          <a:xfrm>
            <a:off x="5257800" y="3649680"/>
            <a:ext cx="231732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%eax,%edx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Google Shape;574;p54"/>
          <p:cNvSpPr/>
          <p:nvPr/>
        </p:nvSpPr>
        <p:spPr>
          <a:xfrm>
            <a:off x="8197920" y="3649680"/>
            <a:ext cx="231732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temp2 = temp1;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Google Shape;575;p54"/>
          <p:cNvSpPr/>
          <p:nvPr/>
        </p:nvSpPr>
        <p:spPr>
          <a:xfrm>
            <a:off x="5257800" y="4095720"/>
            <a:ext cx="262224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%eax,(%edx)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Google Shape;576;p54"/>
          <p:cNvSpPr/>
          <p:nvPr/>
        </p:nvSpPr>
        <p:spPr>
          <a:xfrm>
            <a:off x="8197920" y="4095720"/>
            <a:ext cx="170784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*p = temp;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Google Shape;577;p54"/>
          <p:cNvSpPr/>
          <p:nvPr/>
        </p:nvSpPr>
        <p:spPr>
          <a:xfrm>
            <a:off x="5257800" y="4944960"/>
            <a:ext cx="262224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(%eax),%edx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Google Shape;578;p54"/>
          <p:cNvSpPr/>
          <p:nvPr/>
        </p:nvSpPr>
        <p:spPr>
          <a:xfrm>
            <a:off x="8197920" y="4944960"/>
            <a:ext cx="170784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temp = *p;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579;p54"/>
          <p:cNvSpPr/>
          <p:nvPr/>
        </p:nvSpPr>
        <p:spPr>
          <a:xfrm>
            <a:off x="6095880" y="1752480"/>
            <a:ext cx="122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Src,Dest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905120" y="569880"/>
            <a:ext cx="703548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Simple Memory Addressing Modes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3920" indent="-22392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Normal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(R)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Mem[Reg[R]]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Register R specifies memory address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Aha! Pointer dereferencing in C</a:t>
            </a:r>
            <a:br>
              <a:rPr sz="2400"/>
            </a:br>
            <a:br>
              <a:rPr sz="2400"/>
            </a:b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(%ecx),%eax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560520" indent="-6984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Displacement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D(R)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Mem[Reg[R]+D]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Register R specifies start of memory region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Constant displacement D specifies offset</a:t>
            </a:r>
            <a:br>
              <a:rPr sz="2400"/>
            </a:br>
            <a:br>
              <a:rPr sz="2400"/>
            </a:b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8(%ebp),%edx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2057400" y="304920"/>
            <a:ext cx="765792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Using Simple Addressing Modes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Google Shape;591;p56"/>
          <p:cNvSpPr/>
          <p:nvPr/>
        </p:nvSpPr>
        <p:spPr>
          <a:xfrm>
            <a:off x="1676520" y="1600200"/>
            <a:ext cx="3962160" cy="202356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void swap(int *xp, int *yp)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{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t0 = *xp;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t1 = *yp;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*xp = t1;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*yp = t0;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}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Google Shape;592;p56"/>
          <p:cNvSpPr/>
          <p:nvPr/>
        </p:nvSpPr>
        <p:spPr>
          <a:xfrm>
            <a:off x="9310680" y="2514600"/>
            <a:ext cx="271080" cy="1904760"/>
          </a:xfrm>
          <a:prstGeom prst="rightBrace">
            <a:avLst>
              <a:gd name="adj1" fmla="val 58480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Google Shape;593;p56"/>
          <p:cNvSpPr/>
          <p:nvPr/>
        </p:nvSpPr>
        <p:spPr>
          <a:xfrm>
            <a:off x="9658440" y="3282840"/>
            <a:ext cx="65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Body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Google Shape;594;p56"/>
          <p:cNvSpPr/>
          <p:nvPr/>
        </p:nvSpPr>
        <p:spPr>
          <a:xfrm>
            <a:off x="9302760" y="1447920"/>
            <a:ext cx="279000" cy="83772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Google Shape;595;p56"/>
          <p:cNvSpPr/>
          <p:nvPr/>
        </p:nvSpPr>
        <p:spPr>
          <a:xfrm>
            <a:off x="9658440" y="1546200"/>
            <a:ext cx="48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Up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Google Shape;596;p56"/>
          <p:cNvSpPr/>
          <p:nvPr/>
        </p:nvSpPr>
        <p:spPr>
          <a:xfrm>
            <a:off x="9301320" y="4800600"/>
            <a:ext cx="280800" cy="886680"/>
          </a:xfrm>
          <a:prstGeom prst="rightBrace">
            <a:avLst>
              <a:gd name="adj1" fmla="val 36158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Google Shape;597;p56"/>
          <p:cNvSpPr/>
          <p:nvPr/>
        </p:nvSpPr>
        <p:spPr>
          <a:xfrm>
            <a:off x="9658440" y="5029200"/>
            <a:ext cx="729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Finish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598;p56"/>
          <p:cNvSpPr/>
          <p:nvPr/>
        </p:nvSpPr>
        <p:spPr>
          <a:xfrm>
            <a:off x="5715000" y="1066680"/>
            <a:ext cx="4190760" cy="47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swap: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pushl %ebp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 %esp,%ebp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pushl %ebx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 8(%ebp), %edx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 12(%ebp), %ecx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 (%edx), %ebx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 (%ecx), %eax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 %eax, (%edx)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 %ebx, (%ecx)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popl  %ebx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popl  %ebp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ret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2057400" y="304920"/>
            <a:ext cx="765792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Using Simple Addressing Modes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Google Shape;604;p57"/>
          <p:cNvSpPr/>
          <p:nvPr/>
        </p:nvSpPr>
        <p:spPr>
          <a:xfrm>
            <a:off x="1676520" y="1600200"/>
            <a:ext cx="3962160" cy="202356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void swap(int *xp, int *yp)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{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t0 = *xp;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t1 = *yp;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*xp = t1;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*yp = t0;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}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605;p57"/>
          <p:cNvSpPr/>
          <p:nvPr/>
        </p:nvSpPr>
        <p:spPr>
          <a:xfrm>
            <a:off x="5715000" y="1066680"/>
            <a:ext cx="3657240" cy="47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swap: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pushl %ebp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movl  %esp,%ebp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pushl %ebx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8(%ebp), %edx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12(%ebp), %ecx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(%edx), %ebx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(%ecx), %eax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%eax, (%edx)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%ebx, (%ecx)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popl</a:t>
            </a: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%ebx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popl</a:t>
            </a: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%ebp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rgbClr val="f4b081"/>
                </a:solidFill>
                <a:latin typeface="Courier New"/>
                <a:ea typeface="Courier New"/>
              </a:rPr>
              <a:t>ret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Google Shape;606;p57"/>
          <p:cNvSpPr/>
          <p:nvPr/>
        </p:nvSpPr>
        <p:spPr>
          <a:xfrm>
            <a:off x="9310680" y="2514600"/>
            <a:ext cx="271080" cy="1904760"/>
          </a:xfrm>
          <a:prstGeom prst="rightBrace">
            <a:avLst>
              <a:gd name="adj1" fmla="val 58480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Google Shape;607;p57"/>
          <p:cNvSpPr/>
          <p:nvPr/>
        </p:nvSpPr>
        <p:spPr>
          <a:xfrm>
            <a:off x="9658440" y="3282840"/>
            <a:ext cx="65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Body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Google Shape;608;p57"/>
          <p:cNvSpPr/>
          <p:nvPr/>
        </p:nvSpPr>
        <p:spPr>
          <a:xfrm>
            <a:off x="9302760" y="1447920"/>
            <a:ext cx="279000" cy="83772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rgbClr val="f4b0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609;p57"/>
          <p:cNvSpPr/>
          <p:nvPr/>
        </p:nvSpPr>
        <p:spPr>
          <a:xfrm>
            <a:off x="9658440" y="1546200"/>
            <a:ext cx="48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4b081"/>
                </a:solidFill>
                <a:latin typeface="Calibri"/>
                <a:ea typeface="Calibri"/>
              </a:rPr>
              <a:t>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4b081"/>
                </a:solidFill>
                <a:latin typeface="Calibri"/>
                <a:ea typeface="Calibri"/>
              </a:rPr>
              <a:t>Up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610;p57"/>
          <p:cNvSpPr/>
          <p:nvPr/>
        </p:nvSpPr>
        <p:spPr>
          <a:xfrm>
            <a:off x="9301320" y="4800600"/>
            <a:ext cx="280800" cy="886680"/>
          </a:xfrm>
          <a:prstGeom prst="rightBrace">
            <a:avLst>
              <a:gd name="adj1" fmla="val 36158"/>
              <a:gd name="adj2" fmla="val 50000"/>
            </a:avLst>
          </a:prstGeom>
          <a:noFill/>
          <a:ln w="25400">
            <a:solidFill>
              <a:srgbClr val="f4b0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Google Shape;611;p57"/>
          <p:cNvSpPr/>
          <p:nvPr/>
        </p:nvSpPr>
        <p:spPr>
          <a:xfrm>
            <a:off x="9658440" y="5029200"/>
            <a:ext cx="729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4b081"/>
                </a:solidFill>
                <a:latin typeface="Calibri"/>
                <a:ea typeface="Calibri"/>
              </a:rPr>
              <a:t>Finish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2057400" y="304920"/>
            <a:ext cx="637488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Understanding Swap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Google Shape;617;p58"/>
          <p:cNvSpPr/>
          <p:nvPr/>
        </p:nvSpPr>
        <p:spPr>
          <a:xfrm>
            <a:off x="1828800" y="1295280"/>
            <a:ext cx="3962160" cy="202356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void swap(int *xp, int *yp)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{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t0 = *xp;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t1 = *yp;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*xp = t1;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*yp = t0;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}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618;p58"/>
          <p:cNvSpPr/>
          <p:nvPr/>
        </p:nvSpPr>
        <p:spPr>
          <a:xfrm>
            <a:off x="8915400" y="1371600"/>
            <a:ext cx="1344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Stack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(in memory)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619;p58"/>
          <p:cNvSpPr/>
          <p:nvPr/>
        </p:nvSpPr>
        <p:spPr>
          <a:xfrm>
            <a:off x="2057400" y="4114800"/>
            <a:ext cx="2437920" cy="1676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7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Register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Value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%edx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%ecx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t0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%eax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t1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9" name="Google Shape;620;p58"/>
          <p:cNvGrpSpPr/>
          <p:nvPr/>
        </p:nvGrpSpPr>
        <p:grpSpPr>
          <a:xfrm>
            <a:off x="6781680" y="914400"/>
            <a:ext cx="3310920" cy="3352320"/>
            <a:chOff x="6781680" y="914400"/>
            <a:chExt cx="3310920" cy="3352320"/>
          </a:xfrm>
        </p:grpSpPr>
        <p:grpSp>
          <p:nvGrpSpPr>
            <p:cNvPr id="310" name="Google Shape;621;p58"/>
            <p:cNvGrpSpPr/>
            <p:nvPr/>
          </p:nvGrpSpPr>
          <p:grpSpPr>
            <a:xfrm>
              <a:off x="6781680" y="914400"/>
              <a:ext cx="3304800" cy="3352320"/>
              <a:chOff x="6781680" y="914400"/>
              <a:chExt cx="3304800" cy="3352320"/>
            </a:xfrm>
          </p:grpSpPr>
          <p:sp>
            <p:nvSpPr>
              <p:cNvPr id="311" name="Google Shape;622;p58"/>
              <p:cNvSpPr/>
              <p:nvPr/>
            </p:nvSpPr>
            <p:spPr>
              <a:xfrm>
                <a:off x="7696080" y="2362320"/>
                <a:ext cx="1066320" cy="380520"/>
              </a:xfrm>
              <a:prstGeom prst="rect">
                <a:avLst/>
              </a:prstGeom>
              <a:solidFill>
                <a:srgbClr val="fbe4d4"/>
              </a:solidFill>
              <a:ln w="254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yp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2" name="Google Shape;623;p58"/>
              <p:cNvSpPr/>
              <p:nvPr/>
            </p:nvSpPr>
            <p:spPr>
              <a:xfrm>
                <a:off x="7696080" y="2743200"/>
                <a:ext cx="1066320" cy="380520"/>
              </a:xfrm>
              <a:prstGeom prst="rect">
                <a:avLst/>
              </a:prstGeom>
              <a:solidFill>
                <a:srgbClr val="fbe4d4"/>
              </a:solidFill>
              <a:ln w="254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xp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3" name="Google Shape;624;p58"/>
              <p:cNvSpPr/>
              <p:nvPr/>
            </p:nvSpPr>
            <p:spPr>
              <a:xfrm>
                <a:off x="7696080" y="3124080"/>
                <a:ext cx="1066320" cy="380520"/>
              </a:xfrm>
              <a:prstGeom prst="rect">
                <a:avLst/>
              </a:prstGeom>
              <a:solidFill>
                <a:srgbClr val="fbe4d4"/>
              </a:solidFill>
              <a:ln w="254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alibri"/>
                    <a:ea typeface="Calibri"/>
                  </a:rPr>
                  <a:t>Rtn adr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4" name="Google Shape;625;p58"/>
              <p:cNvSpPr/>
              <p:nvPr/>
            </p:nvSpPr>
            <p:spPr>
              <a:xfrm>
                <a:off x="7696080" y="3505320"/>
                <a:ext cx="1066320" cy="380520"/>
              </a:xfrm>
              <a:prstGeom prst="rect">
                <a:avLst/>
              </a:prstGeom>
              <a:solidFill>
                <a:srgbClr val="fbe4d4"/>
              </a:solidFill>
              <a:ln w="254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alibri"/>
                    <a:ea typeface="Calibri"/>
                  </a:rPr>
                  <a:t>Old %</a:t>
                </a: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ebp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315" name="Google Shape;626;p58"/>
              <p:cNvCxnSpPr/>
              <p:nvPr/>
            </p:nvCxnSpPr>
            <p:spPr>
              <a:xfrm flipH="1">
                <a:off x="8762760" y="3690720"/>
                <a:ext cx="457560" cy="360"/>
              </a:xfrm>
              <a:prstGeom prst="straightConnector1">
                <a:avLst/>
              </a:prstGeom>
              <a:ln w="25400">
                <a:solidFill>
                  <a:srgbClr val="000000"/>
                </a:solidFill>
                <a:round/>
                <a:tailEnd len="med" type="triangle" w="med"/>
              </a:ln>
            </p:spPr>
          </p:cxnSp>
          <p:sp>
            <p:nvSpPr>
              <p:cNvPr id="316" name="Google Shape;627;p58"/>
              <p:cNvSpPr/>
              <p:nvPr/>
            </p:nvSpPr>
            <p:spPr>
              <a:xfrm>
                <a:off x="9356760" y="3519360"/>
                <a:ext cx="729720" cy="639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%ebp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7" name="Google Shape;628;p58"/>
              <p:cNvSpPr/>
              <p:nvPr/>
            </p:nvSpPr>
            <p:spPr>
              <a:xfrm>
                <a:off x="7162920" y="3505320"/>
                <a:ext cx="593280" cy="36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 </a:t>
                </a: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0 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8" name="Google Shape;629;p58"/>
              <p:cNvSpPr/>
              <p:nvPr/>
            </p:nvSpPr>
            <p:spPr>
              <a:xfrm>
                <a:off x="7162920" y="3124080"/>
                <a:ext cx="593280" cy="36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 </a:t>
                </a: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4 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9" name="Google Shape;630;p58"/>
              <p:cNvSpPr/>
              <p:nvPr/>
            </p:nvSpPr>
            <p:spPr>
              <a:xfrm>
                <a:off x="7162920" y="2743200"/>
                <a:ext cx="593280" cy="36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 </a:t>
                </a: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8 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0" name="Google Shape;631;p58"/>
              <p:cNvSpPr/>
              <p:nvPr/>
            </p:nvSpPr>
            <p:spPr>
              <a:xfrm>
                <a:off x="7162920" y="2362320"/>
                <a:ext cx="593280" cy="36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12 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1" name="Google Shape;632;p58"/>
              <p:cNvSpPr/>
              <p:nvPr/>
            </p:nvSpPr>
            <p:spPr>
              <a:xfrm>
                <a:off x="6781680" y="1905120"/>
                <a:ext cx="769680" cy="36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alibri"/>
                    <a:ea typeface="Calibri"/>
                  </a:rPr>
                  <a:t>Offset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2" name="Google Shape;633;p58"/>
              <p:cNvSpPr/>
              <p:nvPr/>
            </p:nvSpPr>
            <p:spPr>
              <a:xfrm>
                <a:off x="7696080" y="914400"/>
                <a:ext cx="1066320" cy="1447560"/>
              </a:xfrm>
              <a:prstGeom prst="rect">
                <a:avLst/>
              </a:prstGeom>
              <a:solidFill>
                <a:srgbClr val="fbe4d4"/>
              </a:solidFill>
              <a:ln w="254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alibri"/>
                    <a:ea typeface="Calibri"/>
                  </a:rPr>
                  <a:t>•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alibri"/>
                    <a:ea typeface="Calibri"/>
                  </a:rPr>
                  <a:t>•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alibri"/>
                    <a:ea typeface="Calibri"/>
                  </a:rPr>
                  <a:t>•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3" name="Google Shape;634;p58"/>
              <p:cNvSpPr/>
              <p:nvPr/>
            </p:nvSpPr>
            <p:spPr>
              <a:xfrm>
                <a:off x="7696080" y="3886200"/>
                <a:ext cx="1066320" cy="380520"/>
              </a:xfrm>
              <a:prstGeom prst="rect">
                <a:avLst/>
              </a:prstGeom>
              <a:solidFill>
                <a:srgbClr val="fbe4d4"/>
              </a:solidFill>
              <a:ln w="254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alibri"/>
                    <a:ea typeface="Calibri"/>
                  </a:rPr>
                  <a:t>Old %</a:t>
                </a: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ebx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4" name="Google Shape;635;p58"/>
              <p:cNvSpPr/>
              <p:nvPr/>
            </p:nvSpPr>
            <p:spPr>
              <a:xfrm>
                <a:off x="7162920" y="3886200"/>
                <a:ext cx="593280" cy="36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pc="-1" strike="noStrike">
                    <a:solidFill>
                      <a:schemeClr val="dk1"/>
                    </a:solidFill>
                    <a:latin typeface="Courier New"/>
                    <a:ea typeface="Courier New"/>
                  </a:rPr>
                  <a:t>-4 </a:t>
                </a:r>
                <a:endParaRPr b="0" lang="en-IN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cxnSp>
          <p:nvCxnSpPr>
            <p:cNvPr id="325" name="Google Shape;636;p58"/>
            <p:cNvCxnSpPr/>
            <p:nvPr/>
          </p:nvCxnSpPr>
          <p:spPr>
            <a:xfrm flipH="1">
              <a:off x="8762760" y="4071600"/>
              <a:ext cx="457560" cy="36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326" name="Google Shape;637;p58"/>
            <p:cNvSpPr/>
            <p:nvPr/>
          </p:nvSpPr>
          <p:spPr>
            <a:xfrm>
              <a:off x="9356760" y="3900600"/>
              <a:ext cx="735840" cy="36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7" name="Google Shape;638;p58"/>
          <p:cNvSpPr/>
          <p:nvPr/>
        </p:nvSpPr>
        <p:spPr>
          <a:xfrm>
            <a:off x="4579920" y="4915440"/>
            <a:ext cx="594324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8(%ebp), %edx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edx = 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12(%ebp), %ecx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ecx = 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(%edx), %ebx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ebx = *xp (t0)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(%ecx), %eax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eax = *yp (t1)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%eax, (%edx)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*xp = t1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%ebx, (%ecx)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*yp = t0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2057400" y="304920"/>
            <a:ext cx="637488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Understanding Swap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Google Shape;644;p59"/>
          <p:cNvSpPr/>
          <p:nvPr/>
        </p:nvSpPr>
        <p:spPr>
          <a:xfrm>
            <a:off x="8077320" y="2362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Google Shape;645;p59"/>
          <p:cNvSpPr/>
          <p:nvPr/>
        </p:nvSpPr>
        <p:spPr>
          <a:xfrm>
            <a:off x="8077320" y="2743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Google Shape;646;p59"/>
          <p:cNvSpPr/>
          <p:nvPr/>
        </p:nvSpPr>
        <p:spPr>
          <a:xfrm>
            <a:off x="8077320" y="3124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Rtn adr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Google Shape;647;p59"/>
          <p:cNvSpPr/>
          <p:nvPr/>
        </p:nvSpPr>
        <p:spPr>
          <a:xfrm>
            <a:off x="8077320" y="3505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3" name="Google Shape;648;p59"/>
          <p:cNvCxnSpPr/>
          <p:nvPr/>
        </p:nvCxnSpPr>
        <p:spPr>
          <a:xfrm>
            <a:off x="7238880" y="3733560"/>
            <a:ext cx="45756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34" name="Google Shape;649;p59"/>
          <p:cNvSpPr/>
          <p:nvPr/>
        </p:nvSpPr>
        <p:spPr>
          <a:xfrm>
            <a:off x="6477120" y="3581280"/>
            <a:ext cx="72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Google Shape;650;p59"/>
          <p:cNvSpPr/>
          <p:nvPr/>
        </p:nvSpPr>
        <p:spPr>
          <a:xfrm>
            <a:off x="7543800" y="3505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651;p59"/>
          <p:cNvSpPr/>
          <p:nvPr/>
        </p:nvSpPr>
        <p:spPr>
          <a:xfrm>
            <a:off x="7543800" y="312408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Google Shape;652;p59"/>
          <p:cNvSpPr/>
          <p:nvPr/>
        </p:nvSpPr>
        <p:spPr>
          <a:xfrm>
            <a:off x="7543800" y="2743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Google Shape;653;p59"/>
          <p:cNvSpPr/>
          <p:nvPr/>
        </p:nvSpPr>
        <p:spPr>
          <a:xfrm>
            <a:off x="7543800" y="2362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Google Shape;654;p59"/>
          <p:cNvSpPr/>
          <p:nvPr/>
        </p:nvSpPr>
        <p:spPr>
          <a:xfrm>
            <a:off x="7162920" y="1905120"/>
            <a:ext cx="770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Offset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Google Shape;655;p59"/>
          <p:cNvSpPr/>
          <p:nvPr/>
        </p:nvSpPr>
        <p:spPr>
          <a:xfrm>
            <a:off x="8077320" y="3886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Google Shape;656;p59"/>
          <p:cNvSpPr/>
          <p:nvPr/>
        </p:nvSpPr>
        <p:spPr>
          <a:xfrm>
            <a:off x="7543800" y="3886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-4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Google Shape;657;p59"/>
          <p:cNvSpPr/>
          <p:nvPr/>
        </p:nvSpPr>
        <p:spPr>
          <a:xfrm>
            <a:off x="8077320" y="457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Google Shape;658;p59"/>
          <p:cNvSpPr/>
          <p:nvPr/>
        </p:nvSpPr>
        <p:spPr>
          <a:xfrm>
            <a:off x="8077320" y="838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Google Shape;659;p59"/>
          <p:cNvSpPr/>
          <p:nvPr/>
        </p:nvSpPr>
        <p:spPr>
          <a:xfrm>
            <a:off x="8077320" y="1219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Google Shape;660;p59"/>
          <p:cNvSpPr/>
          <p:nvPr/>
        </p:nvSpPr>
        <p:spPr>
          <a:xfrm>
            <a:off x="8077320" y="1600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661;p59"/>
          <p:cNvSpPr/>
          <p:nvPr/>
        </p:nvSpPr>
        <p:spPr>
          <a:xfrm>
            <a:off x="8077320" y="1981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662;p59"/>
          <p:cNvSpPr/>
          <p:nvPr/>
        </p:nvSpPr>
        <p:spPr>
          <a:xfrm>
            <a:off x="9144000" y="164160"/>
            <a:ext cx="947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Address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Google Shape;663;p59"/>
          <p:cNvSpPr/>
          <p:nvPr/>
        </p:nvSpPr>
        <p:spPr>
          <a:xfrm>
            <a:off x="9220320" y="4572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664;p59"/>
          <p:cNvSpPr/>
          <p:nvPr/>
        </p:nvSpPr>
        <p:spPr>
          <a:xfrm>
            <a:off x="9220320" y="8524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Google Shape;665;p59"/>
          <p:cNvSpPr/>
          <p:nvPr/>
        </p:nvSpPr>
        <p:spPr>
          <a:xfrm>
            <a:off x="9220320" y="12477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0x11c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666;p59"/>
          <p:cNvSpPr/>
          <p:nvPr/>
        </p:nvSpPr>
        <p:spPr>
          <a:xfrm>
            <a:off x="9220320" y="16430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Google Shape;667;p59"/>
          <p:cNvSpPr/>
          <p:nvPr/>
        </p:nvSpPr>
        <p:spPr>
          <a:xfrm>
            <a:off x="9220320" y="20383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Google Shape;668;p59"/>
          <p:cNvSpPr/>
          <p:nvPr/>
        </p:nvSpPr>
        <p:spPr>
          <a:xfrm>
            <a:off x="9220320" y="24336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669;p59"/>
          <p:cNvSpPr/>
          <p:nvPr/>
        </p:nvSpPr>
        <p:spPr>
          <a:xfrm>
            <a:off x="9220320" y="28288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0x10c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670;p59"/>
          <p:cNvSpPr/>
          <p:nvPr/>
        </p:nvSpPr>
        <p:spPr>
          <a:xfrm>
            <a:off x="9220320" y="32241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Google Shape;671;p59"/>
          <p:cNvSpPr/>
          <p:nvPr/>
        </p:nvSpPr>
        <p:spPr>
          <a:xfrm>
            <a:off x="9220320" y="36194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672;p59"/>
          <p:cNvSpPr/>
          <p:nvPr/>
        </p:nvSpPr>
        <p:spPr>
          <a:xfrm>
            <a:off x="9220320" y="40147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Google Shape;673;p59"/>
          <p:cNvSpPr/>
          <p:nvPr/>
        </p:nvSpPr>
        <p:spPr>
          <a:xfrm>
            <a:off x="6553080" y="236232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674;p59"/>
          <p:cNvSpPr/>
          <p:nvPr/>
        </p:nvSpPr>
        <p:spPr>
          <a:xfrm>
            <a:off x="6553080" y="274320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0" name="Google Shape;675;p59"/>
          <p:cNvGrpSpPr/>
          <p:nvPr/>
        </p:nvGrpSpPr>
        <p:grpSpPr>
          <a:xfrm>
            <a:off x="2057400" y="1523880"/>
            <a:ext cx="685440" cy="3580920"/>
            <a:chOff x="2057400" y="1523880"/>
            <a:chExt cx="685440" cy="3580920"/>
          </a:xfrm>
        </p:grpSpPr>
        <p:sp>
          <p:nvSpPr>
            <p:cNvPr id="361" name="Google Shape;676;p59"/>
            <p:cNvSpPr/>
            <p:nvPr/>
          </p:nvSpPr>
          <p:spPr>
            <a:xfrm>
              <a:off x="2057400" y="1523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%eax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2" name="Google Shape;677;p59"/>
            <p:cNvSpPr/>
            <p:nvPr/>
          </p:nvSpPr>
          <p:spPr>
            <a:xfrm>
              <a:off x="2057400" y="19810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3" name="Google Shape;678;p59"/>
            <p:cNvSpPr/>
            <p:nvPr/>
          </p:nvSpPr>
          <p:spPr>
            <a:xfrm>
              <a:off x="2057400" y="24382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%ecx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4" name="Google Shape;679;p59"/>
            <p:cNvSpPr/>
            <p:nvPr/>
          </p:nvSpPr>
          <p:spPr>
            <a:xfrm>
              <a:off x="2057400" y="28954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5" name="Google Shape;680;p59"/>
            <p:cNvSpPr/>
            <p:nvPr/>
          </p:nvSpPr>
          <p:spPr>
            <a:xfrm>
              <a:off x="2057400" y="33526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6" name="Google Shape;681;p59"/>
            <p:cNvSpPr/>
            <p:nvPr/>
          </p:nvSpPr>
          <p:spPr>
            <a:xfrm>
              <a:off x="2057400" y="3809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7" name="Google Shape;682;p59"/>
            <p:cNvSpPr/>
            <p:nvPr/>
          </p:nvSpPr>
          <p:spPr>
            <a:xfrm>
              <a:off x="2057400" y="42670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8" name="Google Shape;683;p59"/>
            <p:cNvSpPr/>
            <p:nvPr/>
          </p:nvSpPr>
          <p:spPr>
            <a:xfrm>
              <a:off x="2057400" y="47242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9" name="Google Shape;684;p59"/>
          <p:cNvGrpSpPr/>
          <p:nvPr/>
        </p:nvGrpSpPr>
        <p:grpSpPr>
          <a:xfrm>
            <a:off x="2743200" y="1523880"/>
            <a:ext cx="1066320" cy="3580920"/>
            <a:chOff x="2743200" y="1523880"/>
            <a:chExt cx="1066320" cy="3580920"/>
          </a:xfrm>
        </p:grpSpPr>
        <p:sp>
          <p:nvSpPr>
            <p:cNvPr id="370" name="Google Shape;685;p59"/>
            <p:cNvSpPr/>
            <p:nvPr/>
          </p:nvSpPr>
          <p:spPr>
            <a:xfrm>
              <a:off x="2743200" y="1523880"/>
              <a:ext cx="106632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1" name="Google Shape;686;p59"/>
            <p:cNvSpPr/>
            <p:nvPr/>
          </p:nvSpPr>
          <p:spPr>
            <a:xfrm>
              <a:off x="2743200" y="1981080"/>
              <a:ext cx="106632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" name="Google Shape;687;p59"/>
            <p:cNvSpPr/>
            <p:nvPr/>
          </p:nvSpPr>
          <p:spPr>
            <a:xfrm>
              <a:off x="2743200" y="2438280"/>
              <a:ext cx="106632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3" name="Google Shape;688;p59"/>
            <p:cNvSpPr/>
            <p:nvPr/>
          </p:nvSpPr>
          <p:spPr>
            <a:xfrm>
              <a:off x="2743200" y="2895480"/>
              <a:ext cx="106632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4" name="Google Shape;689;p59"/>
            <p:cNvSpPr/>
            <p:nvPr/>
          </p:nvSpPr>
          <p:spPr>
            <a:xfrm>
              <a:off x="2743200" y="3352680"/>
              <a:ext cx="106632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5" name="Google Shape;690;p59"/>
            <p:cNvSpPr/>
            <p:nvPr/>
          </p:nvSpPr>
          <p:spPr>
            <a:xfrm>
              <a:off x="2743200" y="3809880"/>
              <a:ext cx="106632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6" name="Google Shape;691;p59"/>
            <p:cNvSpPr/>
            <p:nvPr/>
          </p:nvSpPr>
          <p:spPr>
            <a:xfrm>
              <a:off x="2743200" y="4267080"/>
              <a:ext cx="106632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7" name="Google Shape;692;p59"/>
            <p:cNvSpPr/>
            <p:nvPr/>
          </p:nvSpPr>
          <p:spPr>
            <a:xfrm>
              <a:off x="2743200" y="4724280"/>
              <a:ext cx="106632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0x104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8" name="Google Shape;693;p59"/>
          <p:cNvSpPr/>
          <p:nvPr/>
        </p:nvSpPr>
        <p:spPr>
          <a:xfrm>
            <a:off x="4267080" y="4495680"/>
            <a:ext cx="594324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8(%ebp), %edx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edx = 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12(%ebp), %ecx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ecx = 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(%edx), %ebx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ebx = *xp (t0)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(%ecx), %eax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eax = *yp (t1)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%eax, (%edx)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*xp = t1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%ebx, (%ecx)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*yp = t0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2057400" y="304920"/>
            <a:ext cx="637488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Understanding Swap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Google Shape;699;p60"/>
          <p:cNvSpPr/>
          <p:nvPr/>
        </p:nvSpPr>
        <p:spPr>
          <a:xfrm>
            <a:off x="8077320" y="2362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Google Shape;700;p60"/>
          <p:cNvSpPr/>
          <p:nvPr/>
        </p:nvSpPr>
        <p:spPr>
          <a:xfrm>
            <a:off x="8077320" y="2743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Google Shape;701;p60"/>
          <p:cNvSpPr/>
          <p:nvPr/>
        </p:nvSpPr>
        <p:spPr>
          <a:xfrm>
            <a:off x="8077320" y="3124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Rtn adr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Google Shape;702;p60"/>
          <p:cNvSpPr/>
          <p:nvPr/>
        </p:nvSpPr>
        <p:spPr>
          <a:xfrm>
            <a:off x="8077320" y="3505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4" name="Google Shape;703;p60"/>
          <p:cNvCxnSpPr/>
          <p:nvPr/>
        </p:nvCxnSpPr>
        <p:spPr>
          <a:xfrm>
            <a:off x="7238880" y="3733560"/>
            <a:ext cx="45756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85" name="Google Shape;704;p60"/>
          <p:cNvSpPr/>
          <p:nvPr/>
        </p:nvSpPr>
        <p:spPr>
          <a:xfrm>
            <a:off x="6477120" y="3581280"/>
            <a:ext cx="72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705;p60"/>
          <p:cNvSpPr/>
          <p:nvPr/>
        </p:nvSpPr>
        <p:spPr>
          <a:xfrm>
            <a:off x="7543800" y="3505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706;p60"/>
          <p:cNvSpPr/>
          <p:nvPr/>
        </p:nvSpPr>
        <p:spPr>
          <a:xfrm>
            <a:off x="7543800" y="312408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Google Shape;707;p60"/>
          <p:cNvSpPr/>
          <p:nvPr/>
        </p:nvSpPr>
        <p:spPr>
          <a:xfrm>
            <a:off x="7543800" y="2743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708;p60"/>
          <p:cNvSpPr/>
          <p:nvPr/>
        </p:nvSpPr>
        <p:spPr>
          <a:xfrm>
            <a:off x="7543800" y="2362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Google Shape;709;p60"/>
          <p:cNvSpPr/>
          <p:nvPr/>
        </p:nvSpPr>
        <p:spPr>
          <a:xfrm>
            <a:off x="7162920" y="1905120"/>
            <a:ext cx="770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Offset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Google Shape;710;p60"/>
          <p:cNvSpPr/>
          <p:nvPr/>
        </p:nvSpPr>
        <p:spPr>
          <a:xfrm>
            <a:off x="8077320" y="3886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Google Shape;711;p60"/>
          <p:cNvSpPr/>
          <p:nvPr/>
        </p:nvSpPr>
        <p:spPr>
          <a:xfrm>
            <a:off x="7543800" y="3886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-4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Google Shape;712;p60"/>
          <p:cNvSpPr/>
          <p:nvPr/>
        </p:nvSpPr>
        <p:spPr>
          <a:xfrm>
            <a:off x="8077320" y="457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713;p60"/>
          <p:cNvSpPr/>
          <p:nvPr/>
        </p:nvSpPr>
        <p:spPr>
          <a:xfrm>
            <a:off x="8077320" y="838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714;p60"/>
          <p:cNvSpPr/>
          <p:nvPr/>
        </p:nvSpPr>
        <p:spPr>
          <a:xfrm>
            <a:off x="8077320" y="1219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Google Shape;715;p60"/>
          <p:cNvSpPr/>
          <p:nvPr/>
        </p:nvSpPr>
        <p:spPr>
          <a:xfrm>
            <a:off x="8077320" y="1600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716;p60"/>
          <p:cNvSpPr/>
          <p:nvPr/>
        </p:nvSpPr>
        <p:spPr>
          <a:xfrm>
            <a:off x="8077320" y="1981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Google Shape;717;p60"/>
          <p:cNvSpPr/>
          <p:nvPr/>
        </p:nvSpPr>
        <p:spPr>
          <a:xfrm>
            <a:off x="9144000" y="164160"/>
            <a:ext cx="947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Address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718;p60"/>
          <p:cNvSpPr/>
          <p:nvPr/>
        </p:nvSpPr>
        <p:spPr>
          <a:xfrm>
            <a:off x="9220320" y="4572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Google Shape;719;p60"/>
          <p:cNvSpPr/>
          <p:nvPr/>
        </p:nvSpPr>
        <p:spPr>
          <a:xfrm>
            <a:off x="9220320" y="8524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Google Shape;720;p60"/>
          <p:cNvSpPr/>
          <p:nvPr/>
        </p:nvSpPr>
        <p:spPr>
          <a:xfrm>
            <a:off x="9220320" y="12477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0x11c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Google Shape;721;p60"/>
          <p:cNvSpPr/>
          <p:nvPr/>
        </p:nvSpPr>
        <p:spPr>
          <a:xfrm>
            <a:off x="9220320" y="16430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Google Shape;722;p60"/>
          <p:cNvSpPr/>
          <p:nvPr/>
        </p:nvSpPr>
        <p:spPr>
          <a:xfrm>
            <a:off x="9220320" y="20383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Google Shape;723;p60"/>
          <p:cNvSpPr/>
          <p:nvPr/>
        </p:nvSpPr>
        <p:spPr>
          <a:xfrm>
            <a:off x="9220320" y="24336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Google Shape;724;p60"/>
          <p:cNvSpPr/>
          <p:nvPr/>
        </p:nvSpPr>
        <p:spPr>
          <a:xfrm>
            <a:off x="9220320" y="28288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0x10c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Google Shape;725;p60"/>
          <p:cNvSpPr/>
          <p:nvPr/>
        </p:nvSpPr>
        <p:spPr>
          <a:xfrm>
            <a:off x="9220320" y="32241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Google Shape;726;p60"/>
          <p:cNvSpPr/>
          <p:nvPr/>
        </p:nvSpPr>
        <p:spPr>
          <a:xfrm>
            <a:off x="9220320" y="36194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Google Shape;727;p60"/>
          <p:cNvSpPr/>
          <p:nvPr/>
        </p:nvSpPr>
        <p:spPr>
          <a:xfrm>
            <a:off x="9220320" y="40147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728;p60"/>
          <p:cNvSpPr/>
          <p:nvPr/>
        </p:nvSpPr>
        <p:spPr>
          <a:xfrm>
            <a:off x="6553080" y="236232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Google Shape;729;p60"/>
          <p:cNvSpPr/>
          <p:nvPr/>
        </p:nvSpPr>
        <p:spPr>
          <a:xfrm>
            <a:off x="6553080" y="274320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1" name="Google Shape;730;p60"/>
          <p:cNvGrpSpPr/>
          <p:nvPr/>
        </p:nvGrpSpPr>
        <p:grpSpPr>
          <a:xfrm>
            <a:off x="2057400" y="1523880"/>
            <a:ext cx="685440" cy="3580920"/>
            <a:chOff x="2057400" y="1523880"/>
            <a:chExt cx="685440" cy="3580920"/>
          </a:xfrm>
        </p:grpSpPr>
        <p:sp>
          <p:nvSpPr>
            <p:cNvPr id="412" name="Google Shape;731;p60"/>
            <p:cNvSpPr/>
            <p:nvPr/>
          </p:nvSpPr>
          <p:spPr>
            <a:xfrm>
              <a:off x="2057400" y="1523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%eax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3" name="Google Shape;732;p60"/>
            <p:cNvSpPr/>
            <p:nvPr/>
          </p:nvSpPr>
          <p:spPr>
            <a:xfrm>
              <a:off x="2057400" y="19810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4" name="Google Shape;733;p60"/>
            <p:cNvSpPr/>
            <p:nvPr/>
          </p:nvSpPr>
          <p:spPr>
            <a:xfrm>
              <a:off x="2057400" y="24382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%ecx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5" name="Google Shape;734;p60"/>
            <p:cNvSpPr/>
            <p:nvPr/>
          </p:nvSpPr>
          <p:spPr>
            <a:xfrm>
              <a:off x="2057400" y="28954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6" name="Google Shape;735;p60"/>
            <p:cNvSpPr/>
            <p:nvPr/>
          </p:nvSpPr>
          <p:spPr>
            <a:xfrm>
              <a:off x="2057400" y="33526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7" name="Google Shape;736;p60"/>
            <p:cNvSpPr/>
            <p:nvPr/>
          </p:nvSpPr>
          <p:spPr>
            <a:xfrm>
              <a:off x="2057400" y="3809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8" name="Google Shape;737;p60"/>
            <p:cNvSpPr/>
            <p:nvPr/>
          </p:nvSpPr>
          <p:spPr>
            <a:xfrm>
              <a:off x="2057400" y="42670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9" name="Google Shape;738;p60"/>
            <p:cNvSpPr/>
            <p:nvPr/>
          </p:nvSpPr>
          <p:spPr>
            <a:xfrm>
              <a:off x="2057400" y="47242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0" name="Google Shape;739;p60"/>
          <p:cNvSpPr/>
          <p:nvPr/>
        </p:nvSpPr>
        <p:spPr>
          <a:xfrm>
            <a:off x="2743200" y="1523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740;p60"/>
          <p:cNvSpPr/>
          <p:nvPr/>
        </p:nvSpPr>
        <p:spPr>
          <a:xfrm>
            <a:off x="2743200" y="19810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Google Shape;741;p60"/>
          <p:cNvSpPr/>
          <p:nvPr/>
        </p:nvSpPr>
        <p:spPr>
          <a:xfrm>
            <a:off x="2743200" y="24382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742;p60"/>
          <p:cNvSpPr/>
          <p:nvPr/>
        </p:nvSpPr>
        <p:spPr>
          <a:xfrm>
            <a:off x="2743200" y="28954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Google Shape;743;p60"/>
          <p:cNvSpPr/>
          <p:nvPr/>
        </p:nvSpPr>
        <p:spPr>
          <a:xfrm>
            <a:off x="2743200" y="33526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Google Shape;744;p60"/>
          <p:cNvSpPr/>
          <p:nvPr/>
        </p:nvSpPr>
        <p:spPr>
          <a:xfrm>
            <a:off x="2743200" y="3809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Google Shape;745;p60"/>
          <p:cNvSpPr/>
          <p:nvPr/>
        </p:nvSpPr>
        <p:spPr>
          <a:xfrm>
            <a:off x="2743200" y="4267080"/>
            <a:ext cx="1066320" cy="38052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Google Shape;746;p60"/>
          <p:cNvSpPr/>
          <p:nvPr/>
        </p:nvSpPr>
        <p:spPr>
          <a:xfrm>
            <a:off x="2743200" y="4724280"/>
            <a:ext cx="1066320" cy="38052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Google Shape;747;p60"/>
          <p:cNvSpPr/>
          <p:nvPr/>
        </p:nvSpPr>
        <p:spPr>
          <a:xfrm>
            <a:off x="8077320" y="2362320"/>
            <a:ext cx="1066320" cy="380520"/>
          </a:xfrm>
          <a:prstGeom prst="rect">
            <a:avLst/>
          </a:prstGeom>
          <a:solidFill>
            <a:srgbClr val="fbe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Google Shape;748;p60"/>
          <p:cNvSpPr/>
          <p:nvPr/>
        </p:nvSpPr>
        <p:spPr>
          <a:xfrm>
            <a:off x="2743200" y="24382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Google Shape;749;p60"/>
          <p:cNvSpPr/>
          <p:nvPr/>
        </p:nvSpPr>
        <p:spPr>
          <a:xfrm>
            <a:off x="4267080" y="4495680"/>
            <a:ext cx="594324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8(%ebp), %edx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# edx = 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12(%ebp), %ecx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ecx = 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(%edx), %ebx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ebx = *xp (t0)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(%ecx), %eax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eax = *yp (t1)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%eax, (%edx)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*xp = t1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%ebx, (%ecx)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*yp = t0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754;p61"/>
          <p:cNvSpPr/>
          <p:nvPr/>
        </p:nvSpPr>
        <p:spPr>
          <a:xfrm>
            <a:off x="2743200" y="19810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2057400" y="304920"/>
            <a:ext cx="637488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Understanding Swap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756;p61"/>
          <p:cNvSpPr/>
          <p:nvPr/>
        </p:nvSpPr>
        <p:spPr>
          <a:xfrm>
            <a:off x="8077320" y="2362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Google Shape;757;p61"/>
          <p:cNvSpPr/>
          <p:nvPr/>
        </p:nvSpPr>
        <p:spPr>
          <a:xfrm>
            <a:off x="8077320" y="2743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758;p61"/>
          <p:cNvSpPr/>
          <p:nvPr/>
        </p:nvSpPr>
        <p:spPr>
          <a:xfrm>
            <a:off x="8077320" y="3124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Rtn adr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Google Shape;759;p61"/>
          <p:cNvSpPr/>
          <p:nvPr/>
        </p:nvSpPr>
        <p:spPr>
          <a:xfrm>
            <a:off x="8077320" y="3505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37" name="Google Shape;760;p61"/>
          <p:cNvCxnSpPr/>
          <p:nvPr/>
        </p:nvCxnSpPr>
        <p:spPr>
          <a:xfrm>
            <a:off x="7238880" y="3733560"/>
            <a:ext cx="45756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38" name="Google Shape;761;p61"/>
          <p:cNvSpPr/>
          <p:nvPr/>
        </p:nvSpPr>
        <p:spPr>
          <a:xfrm>
            <a:off x="6477120" y="3581280"/>
            <a:ext cx="72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Google Shape;762;p61"/>
          <p:cNvSpPr/>
          <p:nvPr/>
        </p:nvSpPr>
        <p:spPr>
          <a:xfrm>
            <a:off x="7543800" y="3505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Google Shape;763;p61"/>
          <p:cNvSpPr/>
          <p:nvPr/>
        </p:nvSpPr>
        <p:spPr>
          <a:xfrm>
            <a:off x="7543800" y="312408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Google Shape;764;p61"/>
          <p:cNvSpPr/>
          <p:nvPr/>
        </p:nvSpPr>
        <p:spPr>
          <a:xfrm>
            <a:off x="7543800" y="2743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765;p61"/>
          <p:cNvSpPr/>
          <p:nvPr/>
        </p:nvSpPr>
        <p:spPr>
          <a:xfrm>
            <a:off x="7543800" y="2362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766;p61"/>
          <p:cNvSpPr/>
          <p:nvPr/>
        </p:nvSpPr>
        <p:spPr>
          <a:xfrm>
            <a:off x="7162920" y="1905120"/>
            <a:ext cx="770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Offset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Google Shape;767;p61"/>
          <p:cNvSpPr/>
          <p:nvPr/>
        </p:nvSpPr>
        <p:spPr>
          <a:xfrm>
            <a:off x="8077320" y="3886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768;p61"/>
          <p:cNvSpPr/>
          <p:nvPr/>
        </p:nvSpPr>
        <p:spPr>
          <a:xfrm>
            <a:off x="7543800" y="3886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-4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Google Shape;769;p61"/>
          <p:cNvSpPr/>
          <p:nvPr/>
        </p:nvSpPr>
        <p:spPr>
          <a:xfrm>
            <a:off x="8077320" y="457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770;p61"/>
          <p:cNvSpPr/>
          <p:nvPr/>
        </p:nvSpPr>
        <p:spPr>
          <a:xfrm>
            <a:off x="8077320" y="838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Google Shape;771;p61"/>
          <p:cNvSpPr/>
          <p:nvPr/>
        </p:nvSpPr>
        <p:spPr>
          <a:xfrm>
            <a:off x="8077320" y="1219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Google Shape;772;p61"/>
          <p:cNvSpPr/>
          <p:nvPr/>
        </p:nvSpPr>
        <p:spPr>
          <a:xfrm>
            <a:off x="8077320" y="1600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773;p61"/>
          <p:cNvSpPr/>
          <p:nvPr/>
        </p:nvSpPr>
        <p:spPr>
          <a:xfrm>
            <a:off x="8077320" y="1981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774;p61"/>
          <p:cNvSpPr/>
          <p:nvPr/>
        </p:nvSpPr>
        <p:spPr>
          <a:xfrm>
            <a:off x="9144000" y="164160"/>
            <a:ext cx="947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Address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Google Shape;775;p61"/>
          <p:cNvSpPr/>
          <p:nvPr/>
        </p:nvSpPr>
        <p:spPr>
          <a:xfrm>
            <a:off x="9220320" y="4572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776;p61"/>
          <p:cNvSpPr/>
          <p:nvPr/>
        </p:nvSpPr>
        <p:spPr>
          <a:xfrm>
            <a:off x="9220320" y="8524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Google Shape;777;p61"/>
          <p:cNvSpPr/>
          <p:nvPr/>
        </p:nvSpPr>
        <p:spPr>
          <a:xfrm>
            <a:off x="9220320" y="12477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0x11c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778;p61"/>
          <p:cNvSpPr/>
          <p:nvPr/>
        </p:nvSpPr>
        <p:spPr>
          <a:xfrm>
            <a:off x="9220320" y="16430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Google Shape;779;p61"/>
          <p:cNvSpPr/>
          <p:nvPr/>
        </p:nvSpPr>
        <p:spPr>
          <a:xfrm>
            <a:off x="9220320" y="20383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Google Shape;780;p61"/>
          <p:cNvSpPr/>
          <p:nvPr/>
        </p:nvSpPr>
        <p:spPr>
          <a:xfrm>
            <a:off x="9220320" y="24336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Google Shape;781;p61"/>
          <p:cNvSpPr/>
          <p:nvPr/>
        </p:nvSpPr>
        <p:spPr>
          <a:xfrm>
            <a:off x="9220320" y="28288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0x10c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Google Shape;782;p61"/>
          <p:cNvSpPr/>
          <p:nvPr/>
        </p:nvSpPr>
        <p:spPr>
          <a:xfrm>
            <a:off x="9220320" y="32241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Google Shape;783;p61"/>
          <p:cNvSpPr/>
          <p:nvPr/>
        </p:nvSpPr>
        <p:spPr>
          <a:xfrm>
            <a:off x="9220320" y="36194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Google Shape;784;p61"/>
          <p:cNvSpPr/>
          <p:nvPr/>
        </p:nvSpPr>
        <p:spPr>
          <a:xfrm>
            <a:off x="9220320" y="40147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Google Shape;785;p61"/>
          <p:cNvSpPr/>
          <p:nvPr/>
        </p:nvSpPr>
        <p:spPr>
          <a:xfrm>
            <a:off x="6553080" y="236232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Google Shape;786;p61"/>
          <p:cNvSpPr/>
          <p:nvPr/>
        </p:nvSpPr>
        <p:spPr>
          <a:xfrm>
            <a:off x="6553080" y="274320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4" name="Google Shape;787;p61"/>
          <p:cNvGrpSpPr/>
          <p:nvPr/>
        </p:nvGrpSpPr>
        <p:grpSpPr>
          <a:xfrm>
            <a:off x="2057400" y="1523880"/>
            <a:ext cx="685440" cy="3580920"/>
            <a:chOff x="2057400" y="1523880"/>
            <a:chExt cx="685440" cy="3580920"/>
          </a:xfrm>
        </p:grpSpPr>
        <p:sp>
          <p:nvSpPr>
            <p:cNvPr id="465" name="Google Shape;788;p61"/>
            <p:cNvSpPr/>
            <p:nvPr/>
          </p:nvSpPr>
          <p:spPr>
            <a:xfrm>
              <a:off x="2057400" y="1523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%eax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6" name="Google Shape;789;p61"/>
            <p:cNvSpPr/>
            <p:nvPr/>
          </p:nvSpPr>
          <p:spPr>
            <a:xfrm>
              <a:off x="2057400" y="19810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7" name="Google Shape;790;p61"/>
            <p:cNvSpPr/>
            <p:nvPr/>
          </p:nvSpPr>
          <p:spPr>
            <a:xfrm>
              <a:off x="2057400" y="24382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%ecx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8" name="Google Shape;791;p61"/>
            <p:cNvSpPr/>
            <p:nvPr/>
          </p:nvSpPr>
          <p:spPr>
            <a:xfrm>
              <a:off x="2057400" y="28954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9" name="Google Shape;792;p61"/>
            <p:cNvSpPr/>
            <p:nvPr/>
          </p:nvSpPr>
          <p:spPr>
            <a:xfrm>
              <a:off x="2057400" y="33526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0" name="Google Shape;793;p61"/>
            <p:cNvSpPr/>
            <p:nvPr/>
          </p:nvSpPr>
          <p:spPr>
            <a:xfrm>
              <a:off x="2057400" y="3809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1" name="Google Shape;794;p61"/>
            <p:cNvSpPr/>
            <p:nvPr/>
          </p:nvSpPr>
          <p:spPr>
            <a:xfrm>
              <a:off x="2057400" y="42670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2" name="Google Shape;795;p61"/>
            <p:cNvSpPr/>
            <p:nvPr/>
          </p:nvSpPr>
          <p:spPr>
            <a:xfrm>
              <a:off x="2057400" y="47242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3" name="Google Shape;796;p61"/>
          <p:cNvSpPr/>
          <p:nvPr/>
        </p:nvSpPr>
        <p:spPr>
          <a:xfrm>
            <a:off x="2743200" y="1523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Google Shape;797;p61"/>
          <p:cNvSpPr/>
          <p:nvPr/>
        </p:nvSpPr>
        <p:spPr>
          <a:xfrm>
            <a:off x="2743200" y="24382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Google Shape;798;p61"/>
          <p:cNvSpPr/>
          <p:nvPr/>
        </p:nvSpPr>
        <p:spPr>
          <a:xfrm>
            <a:off x="2743200" y="28954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Google Shape;799;p61"/>
          <p:cNvSpPr/>
          <p:nvPr/>
        </p:nvSpPr>
        <p:spPr>
          <a:xfrm>
            <a:off x="2743200" y="33526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Google Shape;800;p61"/>
          <p:cNvSpPr/>
          <p:nvPr/>
        </p:nvSpPr>
        <p:spPr>
          <a:xfrm>
            <a:off x="2743200" y="3809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Google Shape;801;p61"/>
          <p:cNvSpPr/>
          <p:nvPr/>
        </p:nvSpPr>
        <p:spPr>
          <a:xfrm>
            <a:off x="2743200" y="4267080"/>
            <a:ext cx="1066320" cy="38052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Google Shape;802;p61"/>
          <p:cNvSpPr/>
          <p:nvPr/>
        </p:nvSpPr>
        <p:spPr>
          <a:xfrm>
            <a:off x="2743200" y="4724280"/>
            <a:ext cx="1066320" cy="38052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Google Shape;803;p61"/>
          <p:cNvSpPr/>
          <p:nvPr/>
        </p:nvSpPr>
        <p:spPr>
          <a:xfrm>
            <a:off x="8077320" y="2743200"/>
            <a:ext cx="1066320" cy="380520"/>
          </a:xfrm>
          <a:prstGeom prst="rect">
            <a:avLst/>
          </a:prstGeom>
          <a:solidFill>
            <a:srgbClr val="fbe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Google Shape;804;p61"/>
          <p:cNvSpPr/>
          <p:nvPr/>
        </p:nvSpPr>
        <p:spPr>
          <a:xfrm>
            <a:off x="2743200" y="19810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Google Shape;805;p61"/>
          <p:cNvSpPr/>
          <p:nvPr/>
        </p:nvSpPr>
        <p:spPr>
          <a:xfrm>
            <a:off x="4267080" y="4495680"/>
            <a:ext cx="594324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8(%ebp), %edx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edx = 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12(%ebp), %ecx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# ecx = 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(%edx), %ebx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ebx = *xp (t0)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(%ecx), %eax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eax = *yp (t1)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%eax, (%edx)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*xp = t1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%ebx, (%ecx)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*yp = t0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810;p62"/>
          <p:cNvSpPr/>
          <p:nvPr/>
        </p:nvSpPr>
        <p:spPr>
          <a:xfrm>
            <a:off x="8077320" y="838080"/>
            <a:ext cx="1066320" cy="380520"/>
          </a:xfrm>
          <a:prstGeom prst="rect">
            <a:avLst/>
          </a:prstGeom>
          <a:solidFill>
            <a:srgbClr val="fbe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Google Shape;811;p62"/>
          <p:cNvSpPr/>
          <p:nvPr/>
        </p:nvSpPr>
        <p:spPr>
          <a:xfrm>
            <a:off x="2743200" y="1523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2057400" y="304920"/>
            <a:ext cx="637488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Understanding Swap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Google Shape;813;p62"/>
          <p:cNvSpPr/>
          <p:nvPr/>
        </p:nvSpPr>
        <p:spPr>
          <a:xfrm>
            <a:off x="8077320" y="2362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814;p62"/>
          <p:cNvSpPr/>
          <p:nvPr/>
        </p:nvSpPr>
        <p:spPr>
          <a:xfrm>
            <a:off x="8077320" y="2743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Google Shape;815;p62"/>
          <p:cNvSpPr/>
          <p:nvPr/>
        </p:nvSpPr>
        <p:spPr>
          <a:xfrm>
            <a:off x="8077320" y="3124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Rtn adr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Google Shape;816;p62"/>
          <p:cNvSpPr/>
          <p:nvPr/>
        </p:nvSpPr>
        <p:spPr>
          <a:xfrm>
            <a:off x="8077320" y="3505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90" name="Google Shape;817;p62"/>
          <p:cNvCxnSpPr/>
          <p:nvPr/>
        </p:nvCxnSpPr>
        <p:spPr>
          <a:xfrm>
            <a:off x="7238880" y="3733560"/>
            <a:ext cx="45756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91" name="Google Shape;818;p62"/>
          <p:cNvSpPr/>
          <p:nvPr/>
        </p:nvSpPr>
        <p:spPr>
          <a:xfrm>
            <a:off x="6477120" y="3581280"/>
            <a:ext cx="72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Google Shape;819;p62"/>
          <p:cNvSpPr/>
          <p:nvPr/>
        </p:nvSpPr>
        <p:spPr>
          <a:xfrm>
            <a:off x="7543800" y="3505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Google Shape;820;p62"/>
          <p:cNvSpPr/>
          <p:nvPr/>
        </p:nvSpPr>
        <p:spPr>
          <a:xfrm>
            <a:off x="7543800" y="312408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Google Shape;821;p62"/>
          <p:cNvSpPr/>
          <p:nvPr/>
        </p:nvSpPr>
        <p:spPr>
          <a:xfrm>
            <a:off x="7543800" y="2743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Google Shape;822;p62"/>
          <p:cNvSpPr/>
          <p:nvPr/>
        </p:nvSpPr>
        <p:spPr>
          <a:xfrm>
            <a:off x="7543800" y="2362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Google Shape;823;p62"/>
          <p:cNvSpPr/>
          <p:nvPr/>
        </p:nvSpPr>
        <p:spPr>
          <a:xfrm>
            <a:off x="7162920" y="1905120"/>
            <a:ext cx="770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Offset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Google Shape;824;p62"/>
          <p:cNvSpPr/>
          <p:nvPr/>
        </p:nvSpPr>
        <p:spPr>
          <a:xfrm>
            <a:off x="8077320" y="3886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oogle Shape;825;p62"/>
          <p:cNvSpPr/>
          <p:nvPr/>
        </p:nvSpPr>
        <p:spPr>
          <a:xfrm>
            <a:off x="7543800" y="3886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-4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Google Shape;826;p62"/>
          <p:cNvSpPr/>
          <p:nvPr/>
        </p:nvSpPr>
        <p:spPr>
          <a:xfrm>
            <a:off x="8077320" y="457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Google Shape;827;p62"/>
          <p:cNvSpPr/>
          <p:nvPr/>
        </p:nvSpPr>
        <p:spPr>
          <a:xfrm>
            <a:off x="8077320" y="838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Google Shape;828;p62"/>
          <p:cNvSpPr/>
          <p:nvPr/>
        </p:nvSpPr>
        <p:spPr>
          <a:xfrm>
            <a:off x="8077320" y="1219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Google Shape;829;p62"/>
          <p:cNvSpPr/>
          <p:nvPr/>
        </p:nvSpPr>
        <p:spPr>
          <a:xfrm>
            <a:off x="8077320" y="1600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Google Shape;830;p62"/>
          <p:cNvSpPr/>
          <p:nvPr/>
        </p:nvSpPr>
        <p:spPr>
          <a:xfrm>
            <a:off x="8077320" y="1981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Google Shape;831;p62"/>
          <p:cNvSpPr/>
          <p:nvPr/>
        </p:nvSpPr>
        <p:spPr>
          <a:xfrm>
            <a:off x="9144000" y="164160"/>
            <a:ext cx="947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Address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Google Shape;832;p62"/>
          <p:cNvSpPr/>
          <p:nvPr/>
        </p:nvSpPr>
        <p:spPr>
          <a:xfrm>
            <a:off x="9220320" y="4572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Google Shape;833;p62"/>
          <p:cNvSpPr/>
          <p:nvPr/>
        </p:nvSpPr>
        <p:spPr>
          <a:xfrm>
            <a:off x="9220320" y="8524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Google Shape;834;p62"/>
          <p:cNvSpPr/>
          <p:nvPr/>
        </p:nvSpPr>
        <p:spPr>
          <a:xfrm>
            <a:off x="9220320" y="12477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0x11c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Google Shape;835;p62"/>
          <p:cNvSpPr/>
          <p:nvPr/>
        </p:nvSpPr>
        <p:spPr>
          <a:xfrm>
            <a:off x="9220320" y="16430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Google Shape;836;p62"/>
          <p:cNvSpPr/>
          <p:nvPr/>
        </p:nvSpPr>
        <p:spPr>
          <a:xfrm>
            <a:off x="9220320" y="20383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Google Shape;837;p62"/>
          <p:cNvSpPr/>
          <p:nvPr/>
        </p:nvSpPr>
        <p:spPr>
          <a:xfrm>
            <a:off x="9220320" y="24336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Google Shape;838;p62"/>
          <p:cNvSpPr/>
          <p:nvPr/>
        </p:nvSpPr>
        <p:spPr>
          <a:xfrm>
            <a:off x="9220320" y="28288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0x10c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Google Shape;839;p62"/>
          <p:cNvSpPr/>
          <p:nvPr/>
        </p:nvSpPr>
        <p:spPr>
          <a:xfrm>
            <a:off x="9220320" y="32241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Google Shape;840;p62"/>
          <p:cNvSpPr/>
          <p:nvPr/>
        </p:nvSpPr>
        <p:spPr>
          <a:xfrm>
            <a:off x="9220320" y="36194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Google Shape;841;p62"/>
          <p:cNvSpPr/>
          <p:nvPr/>
        </p:nvSpPr>
        <p:spPr>
          <a:xfrm>
            <a:off x="9220320" y="40147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Google Shape;842;p62"/>
          <p:cNvSpPr/>
          <p:nvPr/>
        </p:nvSpPr>
        <p:spPr>
          <a:xfrm>
            <a:off x="6553080" y="236232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Google Shape;843;p62"/>
          <p:cNvSpPr/>
          <p:nvPr/>
        </p:nvSpPr>
        <p:spPr>
          <a:xfrm>
            <a:off x="6553080" y="274320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17" name="Google Shape;844;p62"/>
          <p:cNvGrpSpPr/>
          <p:nvPr/>
        </p:nvGrpSpPr>
        <p:grpSpPr>
          <a:xfrm>
            <a:off x="2057400" y="1523880"/>
            <a:ext cx="685440" cy="3580920"/>
            <a:chOff x="2057400" y="1523880"/>
            <a:chExt cx="685440" cy="3580920"/>
          </a:xfrm>
        </p:grpSpPr>
        <p:sp>
          <p:nvSpPr>
            <p:cNvPr id="518" name="Google Shape;845;p62"/>
            <p:cNvSpPr/>
            <p:nvPr/>
          </p:nvSpPr>
          <p:spPr>
            <a:xfrm>
              <a:off x="2057400" y="1523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%eax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9" name="Google Shape;846;p62"/>
            <p:cNvSpPr/>
            <p:nvPr/>
          </p:nvSpPr>
          <p:spPr>
            <a:xfrm>
              <a:off x="2057400" y="19810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0" name="Google Shape;847;p62"/>
            <p:cNvSpPr/>
            <p:nvPr/>
          </p:nvSpPr>
          <p:spPr>
            <a:xfrm>
              <a:off x="2057400" y="24382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%ecx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1" name="Google Shape;848;p62"/>
            <p:cNvSpPr/>
            <p:nvPr/>
          </p:nvSpPr>
          <p:spPr>
            <a:xfrm>
              <a:off x="2057400" y="28954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2" name="Google Shape;849;p62"/>
            <p:cNvSpPr/>
            <p:nvPr/>
          </p:nvSpPr>
          <p:spPr>
            <a:xfrm>
              <a:off x="2057400" y="33526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3" name="Google Shape;850;p62"/>
            <p:cNvSpPr/>
            <p:nvPr/>
          </p:nvSpPr>
          <p:spPr>
            <a:xfrm>
              <a:off x="2057400" y="3809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4" name="Google Shape;851;p62"/>
            <p:cNvSpPr/>
            <p:nvPr/>
          </p:nvSpPr>
          <p:spPr>
            <a:xfrm>
              <a:off x="2057400" y="42670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5" name="Google Shape;852;p62"/>
            <p:cNvSpPr/>
            <p:nvPr/>
          </p:nvSpPr>
          <p:spPr>
            <a:xfrm>
              <a:off x="2057400" y="47242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6" name="Google Shape;853;p62"/>
          <p:cNvSpPr/>
          <p:nvPr/>
        </p:nvSpPr>
        <p:spPr>
          <a:xfrm>
            <a:off x="2743200" y="19810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Google Shape;854;p62"/>
          <p:cNvSpPr/>
          <p:nvPr/>
        </p:nvSpPr>
        <p:spPr>
          <a:xfrm>
            <a:off x="2743200" y="24382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Google Shape;855;p62"/>
          <p:cNvSpPr/>
          <p:nvPr/>
        </p:nvSpPr>
        <p:spPr>
          <a:xfrm>
            <a:off x="2743200" y="28954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Google Shape;856;p62"/>
          <p:cNvSpPr/>
          <p:nvPr/>
        </p:nvSpPr>
        <p:spPr>
          <a:xfrm>
            <a:off x="2743200" y="33526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Google Shape;857;p62"/>
          <p:cNvSpPr/>
          <p:nvPr/>
        </p:nvSpPr>
        <p:spPr>
          <a:xfrm>
            <a:off x="2743200" y="3809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Google Shape;858;p62"/>
          <p:cNvSpPr/>
          <p:nvPr/>
        </p:nvSpPr>
        <p:spPr>
          <a:xfrm>
            <a:off x="2743200" y="4267080"/>
            <a:ext cx="1066320" cy="38052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Google Shape;859;p62"/>
          <p:cNvSpPr/>
          <p:nvPr/>
        </p:nvSpPr>
        <p:spPr>
          <a:xfrm>
            <a:off x="2743200" y="4724280"/>
            <a:ext cx="1066320" cy="38052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Google Shape;860;p62"/>
          <p:cNvSpPr/>
          <p:nvPr/>
        </p:nvSpPr>
        <p:spPr>
          <a:xfrm>
            <a:off x="2743200" y="1523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Google Shape;861;p62"/>
          <p:cNvSpPr/>
          <p:nvPr/>
        </p:nvSpPr>
        <p:spPr>
          <a:xfrm>
            <a:off x="4267080" y="4495680"/>
            <a:ext cx="594324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8(%ebp), %edx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edx = 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12(%ebp), %ecx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ecx = 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(%edx), %ebx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# ebx = *xp (t0)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(%ecx), %eax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eax = *yp (t1)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%eax, (%edx)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*xp = t1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%ebx, (%ecx)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*yp = t0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866;p63"/>
          <p:cNvSpPr/>
          <p:nvPr/>
        </p:nvSpPr>
        <p:spPr>
          <a:xfrm>
            <a:off x="2743200" y="28954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2057400" y="304920"/>
            <a:ext cx="637488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Understanding Swap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Google Shape;868;p63"/>
          <p:cNvSpPr/>
          <p:nvPr/>
        </p:nvSpPr>
        <p:spPr>
          <a:xfrm>
            <a:off x="8077320" y="2362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Google Shape;869;p63"/>
          <p:cNvSpPr/>
          <p:nvPr/>
        </p:nvSpPr>
        <p:spPr>
          <a:xfrm>
            <a:off x="8077320" y="2743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Google Shape;870;p63"/>
          <p:cNvSpPr/>
          <p:nvPr/>
        </p:nvSpPr>
        <p:spPr>
          <a:xfrm>
            <a:off x="8077320" y="3124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Rtn adr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Google Shape;871;p63"/>
          <p:cNvSpPr/>
          <p:nvPr/>
        </p:nvSpPr>
        <p:spPr>
          <a:xfrm>
            <a:off x="8077320" y="3505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41" name="Google Shape;872;p63"/>
          <p:cNvCxnSpPr/>
          <p:nvPr/>
        </p:nvCxnSpPr>
        <p:spPr>
          <a:xfrm>
            <a:off x="7238880" y="3733560"/>
            <a:ext cx="45756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542" name="Google Shape;873;p63"/>
          <p:cNvSpPr/>
          <p:nvPr/>
        </p:nvSpPr>
        <p:spPr>
          <a:xfrm>
            <a:off x="6477120" y="3581280"/>
            <a:ext cx="72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Google Shape;874;p63"/>
          <p:cNvSpPr/>
          <p:nvPr/>
        </p:nvSpPr>
        <p:spPr>
          <a:xfrm>
            <a:off x="7543800" y="3505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Google Shape;875;p63"/>
          <p:cNvSpPr/>
          <p:nvPr/>
        </p:nvSpPr>
        <p:spPr>
          <a:xfrm>
            <a:off x="7543800" y="312408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Google Shape;876;p63"/>
          <p:cNvSpPr/>
          <p:nvPr/>
        </p:nvSpPr>
        <p:spPr>
          <a:xfrm>
            <a:off x="7543800" y="2743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Google Shape;877;p63"/>
          <p:cNvSpPr/>
          <p:nvPr/>
        </p:nvSpPr>
        <p:spPr>
          <a:xfrm>
            <a:off x="7543800" y="2362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Google Shape;878;p63"/>
          <p:cNvSpPr/>
          <p:nvPr/>
        </p:nvSpPr>
        <p:spPr>
          <a:xfrm>
            <a:off x="7162920" y="1905120"/>
            <a:ext cx="770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Offset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Google Shape;879;p63"/>
          <p:cNvSpPr/>
          <p:nvPr/>
        </p:nvSpPr>
        <p:spPr>
          <a:xfrm>
            <a:off x="8077320" y="3886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Google Shape;880;p63"/>
          <p:cNvSpPr/>
          <p:nvPr/>
        </p:nvSpPr>
        <p:spPr>
          <a:xfrm>
            <a:off x="7543800" y="3886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-4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Google Shape;881;p63"/>
          <p:cNvSpPr/>
          <p:nvPr/>
        </p:nvSpPr>
        <p:spPr>
          <a:xfrm>
            <a:off x="8077320" y="457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Google Shape;882;p63"/>
          <p:cNvSpPr/>
          <p:nvPr/>
        </p:nvSpPr>
        <p:spPr>
          <a:xfrm>
            <a:off x="8077320" y="838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Google Shape;883;p63"/>
          <p:cNvSpPr/>
          <p:nvPr/>
        </p:nvSpPr>
        <p:spPr>
          <a:xfrm>
            <a:off x="8077320" y="1219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Google Shape;884;p63"/>
          <p:cNvSpPr/>
          <p:nvPr/>
        </p:nvSpPr>
        <p:spPr>
          <a:xfrm>
            <a:off x="8077320" y="1600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Google Shape;885;p63"/>
          <p:cNvSpPr/>
          <p:nvPr/>
        </p:nvSpPr>
        <p:spPr>
          <a:xfrm>
            <a:off x="8077320" y="1981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Google Shape;886;p63"/>
          <p:cNvSpPr/>
          <p:nvPr/>
        </p:nvSpPr>
        <p:spPr>
          <a:xfrm>
            <a:off x="9144000" y="164160"/>
            <a:ext cx="947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Address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Google Shape;887;p63"/>
          <p:cNvSpPr/>
          <p:nvPr/>
        </p:nvSpPr>
        <p:spPr>
          <a:xfrm>
            <a:off x="9220320" y="4572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Google Shape;888;p63"/>
          <p:cNvSpPr/>
          <p:nvPr/>
        </p:nvSpPr>
        <p:spPr>
          <a:xfrm>
            <a:off x="9220320" y="8524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Google Shape;889;p63"/>
          <p:cNvSpPr/>
          <p:nvPr/>
        </p:nvSpPr>
        <p:spPr>
          <a:xfrm>
            <a:off x="9220320" y="12477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0x11c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Google Shape;890;p63"/>
          <p:cNvSpPr/>
          <p:nvPr/>
        </p:nvSpPr>
        <p:spPr>
          <a:xfrm>
            <a:off x="9220320" y="16430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Google Shape;891;p63"/>
          <p:cNvSpPr/>
          <p:nvPr/>
        </p:nvSpPr>
        <p:spPr>
          <a:xfrm>
            <a:off x="9220320" y="20383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Google Shape;892;p63"/>
          <p:cNvSpPr/>
          <p:nvPr/>
        </p:nvSpPr>
        <p:spPr>
          <a:xfrm>
            <a:off x="9220320" y="24336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Google Shape;893;p63"/>
          <p:cNvSpPr/>
          <p:nvPr/>
        </p:nvSpPr>
        <p:spPr>
          <a:xfrm>
            <a:off x="9220320" y="28288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0x10c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Google Shape;894;p63"/>
          <p:cNvSpPr/>
          <p:nvPr/>
        </p:nvSpPr>
        <p:spPr>
          <a:xfrm>
            <a:off x="9220320" y="32241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Google Shape;895;p63"/>
          <p:cNvSpPr/>
          <p:nvPr/>
        </p:nvSpPr>
        <p:spPr>
          <a:xfrm>
            <a:off x="9220320" y="36194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Google Shape;896;p63"/>
          <p:cNvSpPr/>
          <p:nvPr/>
        </p:nvSpPr>
        <p:spPr>
          <a:xfrm>
            <a:off x="9220320" y="40147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Google Shape;897;p63"/>
          <p:cNvSpPr/>
          <p:nvPr/>
        </p:nvSpPr>
        <p:spPr>
          <a:xfrm>
            <a:off x="6553080" y="236232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Google Shape;898;p63"/>
          <p:cNvSpPr/>
          <p:nvPr/>
        </p:nvSpPr>
        <p:spPr>
          <a:xfrm>
            <a:off x="6553080" y="274320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68" name="Google Shape;899;p63"/>
          <p:cNvGrpSpPr/>
          <p:nvPr/>
        </p:nvGrpSpPr>
        <p:grpSpPr>
          <a:xfrm>
            <a:off x="2057400" y="1523880"/>
            <a:ext cx="685440" cy="3580920"/>
            <a:chOff x="2057400" y="1523880"/>
            <a:chExt cx="685440" cy="3580920"/>
          </a:xfrm>
        </p:grpSpPr>
        <p:sp>
          <p:nvSpPr>
            <p:cNvPr id="569" name="Google Shape;900;p63"/>
            <p:cNvSpPr/>
            <p:nvPr/>
          </p:nvSpPr>
          <p:spPr>
            <a:xfrm>
              <a:off x="2057400" y="1523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%eax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0" name="Google Shape;901;p63"/>
            <p:cNvSpPr/>
            <p:nvPr/>
          </p:nvSpPr>
          <p:spPr>
            <a:xfrm>
              <a:off x="2057400" y="19810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1" name="Google Shape;902;p63"/>
            <p:cNvSpPr/>
            <p:nvPr/>
          </p:nvSpPr>
          <p:spPr>
            <a:xfrm>
              <a:off x="2057400" y="24382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%ecx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2" name="Google Shape;903;p63"/>
            <p:cNvSpPr/>
            <p:nvPr/>
          </p:nvSpPr>
          <p:spPr>
            <a:xfrm>
              <a:off x="2057400" y="28954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3" name="Google Shape;904;p63"/>
            <p:cNvSpPr/>
            <p:nvPr/>
          </p:nvSpPr>
          <p:spPr>
            <a:xfrm>
              <a:off x="2057400" y="33526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4" name="Google Shape;905;p63"/>
            <p:cNvSpPr/>
            <p:nvPr/>
          </p:nvSpPr>
          <p:spPr>
            <a:xfrm>
              <a:off x="2057400" y="3809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5" name="Google Shape;906;p63"/>
            <p:cNvSpPr/>
            <p:nvPr/>
          </p:nvSpPr>
          <p:spPr>
            <a:xfrm>
              <a:off x="2057400" y="42670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6" name="Google Shape;907;p63"/>
            <p:cNvSpPr/>
            <p:nvPr/>
          </p:nvSpPr>
          <p:spPr>
            <a:xfrm>
              <a:off x="2057400" y="47242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77" name="Google Shape;908;p63"/>
          <p:cNvSpPr/>
          <p:nvPr/>
        </p:nvSpPr>
        <p:spPr>
          <a:xfrm>
            <a:off x="2743200" y="1523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Google Shape;909;p63"/>
          <p:cNvSpPr/>
          <p:nvPr/>
        </p:nvSpPr>
        <p:spPr>
          <a:xfrm>
            <a:off x="2743200" y="19810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Google Shape;910;p63"/>
          <p:cNvSpPr/>
          <p:nvPr/>
        </p:nvSpPr>
        <p:spPr>
          <a:xfrm>
            <a:off x="2743200" y="24382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Google Shape;911;p63"/>
          <p:cNvSpPr/>
          <p:nvPr/>
        </p:nvSpPr>
        <p:spPr>
          <a:xfrm>
            <a:off x="2743200" y="33526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Google Shape;912;p63"/>
          <p:cNvSpPr/>
          <p:nvPr/>
        </p:nvSpPr>
        <p:spPr>
          <a:xfrm>
            <a:off x="2743200" y="3809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Google Shape;913;p63"/>
          <p:cNvSpPr/>
          <p:nvPr/>
        </p:nvSpPr>
        <p:spPr>
          <a:xfrm>
            <a:off x="2743200" y="4267080"/>
            <a:ext cx="1066320" cy="38052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Google Shape;914;p63"/>
          <p:cNvSpPr/>
          <p:nvPr/>
        </p:nvSpPr>
        <p:spPr>
          <a:xfrm>
            <a:off x="2743200" y="4724280"/>
            <a:ext cx="1066320" cy="38052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Google Shape;915;p63"/>
          <p:cNvSpPr/>
          <p:nvPr/>
        </p:nvSpPr>
        <p:spPr>
          <a:xfrm>
            <a:off x="8077320" y="457200"/>
            <a:ext cx="1066320" cy="380520"/>
          </a:xfrm>
          <a:prstGeom prst="rect">
            <a:avLst/>
          </a:prstGeom>
          <a:solidFill>
            <a:srgbClr val="fbe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Google Shape;916;p63"/>
          <p:cNvSpPr/>
          <p:nvPr/>
        </p:nvSpPr>
        <p:spPr>
          <a:xfrm>
            <a:off x="2743200" y="28954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Google Shape;917;p63"/>
          <p:cNvSpPr/>
          <p:nvPr/>
        </p:nvSpPr>
        <p:spPr>
          <a:xfrm>
            <a:off x="4267080" y="4495680"/>
            <a:ext cx="594324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8(%ebp), %edx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edx = 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12(%ebp), %ecx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ecx = 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(%edx), %ebx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ebx = *xp (t0)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(%ecx), %eax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# eax = *yp (t1)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%eax, (%edx)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*xp = t1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%ebx, (%ecx)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*yp = t0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922;p64"/>
          <p:cNvSpPr/>
          <p:nvPr/>
        </p:nvSpPr>
        <p:spPr>
          <a:xfrm>
            <a:off x="8077320" y="457200"/>
            <a:ext cx="1066320" cy="380520"/>
          </a:xfrm>
          <a:prstGeom prst="rect">
            <a:avLst/>
          </a:prstGeom>
          <a:solidFill>
            <a:srgbClr val="fbe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c0000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Google Shape;923;p64"/>
          <p:cNvSpPr/>
          <p:nvPr/>
        </p:nvSpPr>
        <p:spPr>
          <a:xfrm>
            <a:off x="8077320" y="838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2057400" y="304920"/>
            <a:ext cx="637488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Understanding Swap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Google Shape;925;p64"/>
          <p:cNvSpPr/>
          <p:nvPr/>
        </p:nvSpPr>
        <p:spPr>
          <a:xfrm>
            <a:off x="8077320" y="2362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Google Shape;926;p64"/>
          <p:cNvSpPr/>
          <p:nvPr/>
        </p:nvSpPr>
        <p:spPr>
          <a:xfrm>
            <a:off x="8077320" y="2743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Google Shape;927;p64"/>
          <p:cNvSpPr/>
          <p:nvPr/>
        </p:nvSpPr>
        <p:spPr>
          <a:xfrm>
            <a:off x="8077320" y="3124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Rtn adr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Google Shape;928;p64"/>
          <p:cNvSpPr/>
          <p:nvPr/>
        </p:nvSpPr>
        <p:spPr>
          <a:xfrm>
            <a:off x="8077320" y="3505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94" name="Google Shape;929;p64"/>
          <p:cNvCxnSpPr/>
          <p:nvPr/>
        </p:nvCxnSpPr>
        <p:spPr>
          <a:xfrm>
            <a:off x="7238880" y="3733560"/>
            <a:ext cx="45756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595" name="Google Shape;930;p64"/>
          <p:cNvSpPr/>
          <p:nvPr/>
        </p:nvSpPr>
        <p:spPr>
          <a:xfrm>
            <a:off x="6477120" y="3581280"/>
            <a:ext cx="72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Google Shape;931;p64"/>
          <p:cNvSpPr/>
          <p:nvPr/>
        </p:nvSpPr>
        <p:spPr>
          <a:xfrm>
            <a:off x="7543800" y="3505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Google Shape;932;p64"/>
          <p:cNvSpPr/>
          <p:nvPr/>
        </p:nvSpPr>
        <p:spPr>
          <a:xfrm>
            <a:off x="7543800" y="312408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Google Shape;933;p64"/>
          <p:cNvSpPr/>
          <p:nvPr/>
        </p:nvSpPr>
        <p:spPr>
          <a:xfrm>
            <a:off x="7543800" y="2743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Google Shape;934;p64"/>
          <p:cNvSpPr/>
          <p:nvPr/>
        </p:nvSpPr>
        <p:spPr>
          <a:xfrm>
            <a:off x="7543800" y="2362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Google Shape;935;p64"/>
          <p:cNvSpPr/>
          <p:nvPr/>
        </p:nvSpPr>
        <p:spPr>
          <a:xfrm>
            <a:off x="7162920" y="1905120"/>
            <a:ext cx="770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Offset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Google Shape;936;p64"/>
          <p:cNvSpPr/>
          <p:nvPr/>
        </p:nvSpPr>
        <p:spPr>
          <a:xfrm>
            <a:off x="8077320" y="3886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Google Shape;937;p64"/>
          <p:cNvSpPr/>
          <p:nvPr/>
        </p:nvSpPr>
        <p:spPr>
          <a:xfrm>
            <a:off x="7543800" y="3886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-4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Google Shape;938;p64"/>
          <p:cNvSpPr/>
          <p:nvPr/>
        </p:nvSpPr>
        <p:spPr>
          <a:xfrm>
            <a:off x="8077320" y="1219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Google Shape;939;p64"/>
          <p:cNvSpPr/>
          <p:nvPr/>
        </p:nvSpPr>
        <p:spPr>
          <a:xfrm>
            <a:off x="8077320" y="1600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Google Shape;940;p64"/>
          <p:cNvSpPr/>
          <p:nvPr/>
        </p:nvSpPr>
        <p:spPr>
          <a:xfrm>
            <a:off x="8077320" y="1981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Google Shape;941;p64"/>
          <p:cNvSpPr/>
          <p:nvPr/>
        </p:nvSpPr>
        <p:spPr>
          <a:xfrm>
            <a:off x="9144000" y="164160"/>
            <a:ext cx="947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Address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Google Shape;942;p64"/>
          <p:cNvSpPr/>
          <p:nvPr/>
        </p:nvSpPr>
        <p:spPr>
          <a:xfrm>
            <a:off x="9220320" y="4572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Google Shape;943;p64"/>
          <p:cNvSpPr/>
          <p:nvPr/>
        </p:nvSpPr>
        <p:spPr>
          <a:xfrm>
            <a:off x="9220320" y="8524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Google Shape;944;p64"/>
          <p:cNvSpPr/>
          <p:nvPr/>
        </p:nvSpPr>
        <p:spPr>
          <a:xfrm>
            <a:off x="9220320" y="12477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0x11c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Google Shape;945;p64"/>
          <p:cNvSpPr/>
          <p:nvPr/>
        </p:nvSpPr>
        <p:spPr>
          <a:xfrm>
            <a:off x="9220320" y="16430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Google Shape;946;p64"/>
          <p:cNvSpPr/>
          <p:nvPr/>
        </p:nvSpPr>
        <p:spPr>
          <a:xfrm>
            <a:off x="9220320" y="20383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Google Shape;947;p64"/>
          <p:cNvSpPr/>
          <p:nvPr/>
        </p:nvSpPr>
        <p:spPr>
          <a:xfrm>
            <a:off x="9220320" y="24336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Google Shape;948;p64"/>
          <p:cNvSpPr/>
          <p:nvPr/>
        </p:nvSpPr>
        <p:spPr>
          <a:xfrm>
            <a:off x="9220320" y="28288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0x10c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Google Shape;949;p64"/>
          <p:cNvSpPr/>
          <p:nvPr/>
        </p:nvSpPr>
        <p:spPr>
          <a:xfrm>
            <a:off x="9220320" y="32241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Google Shape;950;p64"/>
          <p:cNvSpPr/>
          <p:nvPr/>
        </p:nvSpPr>
        <p:spPr>
          <a:xfrm>
            <a:off x="9220320" y="36194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Google Shape;951;p64"/>
          <p:cNvSpPr/>
          <p:nvPr/>
        </p:nvSpPr>
        <p:spPr>
          <a:xfrm>
            <a:off x="9220320" y="40147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Google Shape;952;p64"/>
          <p:cNvSpPr/>
          <p:nvPr/>
        </p:nvSpPr>
        <p:spPr>
          <a:xfrm>
            <a:off x="6553080" y="236232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Google Shape;953;p64"/>
          <p:cNvSpPr/>
          <p:nvPr/>
        </p:nvSpPr>
        <p:spPr>
          <a:xfrm>
            <a:off x="6553080" y="274320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19" name="Google Shape;954;p64"/>
          <p:cNvGrpSpPr/>
          <p:nvPr/>
        </p:nvGrpSpPr>
        <p:grpSpPr>
          <a:xfrm>
            <a:off x="2057400" y="1523880"/>
            <a:ext cx="685440" cy="3580920"/>
            <a:chOff x="2057400" y="1523880"/>
            <a:chExt cx="685440" cy="3580920"/>
          </a:xfrm>
        </p:grpSpPr>
        <p:sp>
          <p:nvSpPr>
            <p:cNvPr id="620" name="Google Shape;955;p64"/>
            <p:cNvSpPr/>
            <p:nvPr/>
          </p:nvSpPr>
          <p:spPr>
            <a:xfrm>
              <a:off x="2057400" y="1523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%eax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1" name="Google Shape;956;p64"/>
            <p:cNvSpPr/>
            <p:nvPr/>
          </p:nvSpPr>
          <p:spPr>
            <a:xfrm>
              <a:off x="2057400" y="19810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2" name="Google Shape;957;p64"/>
            <p:cNvSpPr/>
            <p:nvPr/>
          </p:nvSpPr>
          <p:spPr>
            <a:xfrm>
              <a:off x="2057400" y="24382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%ecx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3" name="Google Shape;958;p64"/>
            <p:cNvSpPr/>
            <p:nvPr/>
          </p:nvSpPr>
          <p:spPr>
            <a:xfrm>
              <a:off x="2057400" y="28954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4" name="Google Shape;959;p64"/>
            <p:cNvSpPr/>
            <p:nvPr/>
          </p:nvSpPr>
          <p:spPr>
            <a:xfrm>
              <a:off x="2057400" y="33526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5" name="Google Shape;960;p64"/>
            <p:cNvSpPr/>
            <p:nvPr/>
          </p:nvSpPr>
          <p:spPr>
            <a:xfrm>
              <a:off x="2057400" y="3809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6" name="Google Shape;961;p64"/>
            <p:cNvSpPr/>
            <p:nvPr/>
          </p:nvSpPr>
          <p:spPr>
            <a:xfrm>
              <a:off x="2057400" y="42670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7" name="Google Shape;962;p64"/>
            <p:cNvSpPr/>
            <p:nvPr/>
          </p:nvSpPr>
          <p:spPr>
            <a:xfrm>
              <a:off x="2057400" y="47242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28" name="Google Shape;963;p64"/>
          <p:cNvSpPr/>
          <p:nvPr/>
        </p:nvSpPr>
        <p:spPr>
          <a:xfrm>
            <a:off x="2971800" y="1523880"/>
            <a:ext cx="1066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Google Shape;964;p64"/>
          <p:cNvSpPr/>
          <p:nvPr/>
        </p:nvSpPr>
        <p:spPr>
          <a:xfrm>
            <a:off x="2743200" y="1523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Google Shape;965;p64"/>
          <p:cNvSpPr/>
          <p:nvPr/>
        </p:nvSpPr>
        <p:spPr>
          <a:xfrm>
            <a:off x="2743200" y="19810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Google Shape;966;p64"/>
          <p:cNvSpPr/>
          <p:nvPr/>
        </p:nvSpPr>
        <p:spPr>
          <a:xfrm>
            <a:off x="2743200" y="24382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Google Shape;967;p64"/>
          <p:cNvSpPr/>
          <p:nvPr/>
        </p:nvSpPr>
        <p:spPr>
          <a:xfrm>
            <a:off x="2743200" y="28954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Google Shape;968;p64"/>
          <p:cNvSpPr/>
          <p:nvPr/>
        </p:nvSpPr>
        <p:spPr>
          <a:xfrm>
            <a:off x="2743200" y="33526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Google Shape;969;p64"/>
          <p:cNvSpPr/>
          <p:nvPr/>
        </p:nvSpPr>
        <p:spPr>
          <a:xfrm>
            <a:off x="2743200" y="3809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Google Shape;970;p64"/>
          <p:cNvSpPr/>
          <p:nvPr/>
        </p:nvSpPr>
        <p:spPr>
          <a:xfrm>
            <a:off x="2743200" y="4267080"/>
            <a:ext cx="1066320" cy="38052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Google Shape;971;p64"/>
          <p:cNvSpPr/>
          <p:nvPr/>
        </p:nvSpPr>
        <p:spPr>
          <a:xfrm>
            <a:off x="2743200" y="4724280"/>
            <a:ext cx="1066320" cy="38052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Google Shape;972;p64"/>
          <p:cNvSpPr/>
          <p:nvPr/>
        </p:nvSpPr>
        <p:spPr>
          <a:xfrm>
            <a:off x="8077320" y="457200"/>
            <a:ext cx="1066320" cy="38052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Google Shape;973;p64"/>
          <p:cNvSpPr/>
          <p:nvPr/>
        </p:nvSpPr>
        <p:spPr>
          <a:xfrm>
            <a:off x="2743200" y="2895480"/>
            <a:ext cx="1066320" cy="38052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Google Shape;974;p64"/>
          <p:cNvSpPr/>
          <p:nvPr/>
        </p:nvSpPr>
        <p:spPr>
          <a:xfrm>
            <a:off x="4267080" y="4495680"/>
            <a:ext cx="594324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8(%ebp), %edx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edx = 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12(%ebp), %ecx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ecx = 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(%edx), %ebx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ebx = *xp (t0)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(%ecx), %eax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eax = *yp (t1)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%eax, (%edx)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# *xp = t1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%ebx, (%ecx)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*yp = t0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2057400" y="304920"/>
            <a:ext cx="637488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Understanding Swap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Google Shape;980;p65"/>
          <p:cNvSpPr/>
          <p:nvPr/>
        </p:nvSpPr>
        <p:spPr>
          <a:xfrm>
            <a:off x="8077320" y="2362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Google Shape;981;p65"/>
          <p:cNvSpPr/>
          <p:nvPr/>
        </p:nvSpPr>
        <p:spPr>
          <a:xfrm>
            <a:off x="8077320" y="2743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Google Shape;982;p65"/>
          <p:cNvSpPr/>
          <p:nvPr/>
        </p:nvSpPr>
        <p:spPr>
          <a:xfrm>
            <a:off x="8077320" y="3124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Rtn adr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Google Shape;983;p65"/>
          <p:cNvSpPr/>
          <p:nvPr/>
        </p:nvSpPr>
        <p:spPr>
          <a:xfrm>
            <a:off x="8077320" y="3505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45" name="Google Shape;984;p65"/>
          <p:cNvCxnSpPr/>
          <p:nvPr/>
        </p:nvCxnSpPr>
        <p:spPr>
          <a:xfrm>
            <a:off x="7238880" y="3733560"/>
            <a:ext cx="457560" cy="360"/>
          </a:xfrm>
          <a:prstGeom prst="straightConnector1">
            <a:avLst/>
          </a:prstGeom>
          <a:ln w="254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646" name="Google Shape;985;p65"/>
          <p:cNvSpPr/>
          <p:nvPr/>
        </p:nvSpPr>
        <p:spPr>
          <a:xfrm>
            <a:off x="6477120" y="3581280"/>
            <a:ext cx="72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Google Shape;986;p65"/>
          <p:cNvSpPr/>
          <p:nvPr/>
        </p:nvSpPr>
        <p:spPr>
          <a:xfrm>
            <a:off x="7543800" y="3505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Google Shape;987;p65"/>
          <p:cNvSpPr/>
          <p:nvPr/>
        </p:nvSpPr>
        <p:spPr>
          <a:xfrm>
            <a:off x="7543800" y="312408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Google Shape;988;p65"/>
          <p:cNvSpPr/>
          <p:nvPr/>
        </p:nvSpPr>
        <p:spPr>
          <a:xfrm>
            <a:off x="7543800" y="2743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Google Shape;989;p65"/>
          <p:cNvSpPr/>
          <p:nvPr/>
        </p:nvSpPr>
        <p:spPr>
          <a:xfrm>
            <a:off x="7543800" y="236232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Google Shape;990;p65"/>
          <p:cNvSpPr/>
          <p:nvPr/>
        </p:nvSpPr>
        <p:spPr>
          <a:xfrm>
            <a:off x="7162920" y="1905120"/>
            <a:ext cx="770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Offset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Google Shape;991;p65"/>
          <p:cNvSpPr/>
          <p:nvPr/>
        </p:nvSpPr>
        <p:spPr>
          <a:xfrm>
            <a:off x="8077320" y="3886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Google Shape;992;p65"/>
          <p:cNvSpPr/>
          <p:nvPr/>
        </p:nvSpPr>
        <p:spPr>
          <a:xfrm>
            <a:off x="7543800" y="3886200"/>
            <a:ext cx="5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-4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Google Shape;993;p65"/>
          <p:cNvSpPr/>
          <p:nvPr/>
        </p:nvSpPr>
        <p:spPr>
          <a:xfrm>
            <a:off x="8077320" y="457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Google Shape;994;p65"/>
          <p:cNvSpPr/>
          <p:nvPr/>
        </p:nvSpPr>
        <p:spPr>
          <a:xfrm>
            <a:off x="8077320" y="838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c0000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Google Shape;995;p65"/>
          <p:cNvSpPr/>
          <p:nvPr/>
        </p:nvSpPr>
        <p:spPr>
          <a:xfrm>
            <a:off x="8077320" y="121932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Google Shape;996;p65"/>
          <p:cNvSpPr/>
          <p:nvPr/>
        </p:nvSpPr>
        <p:spPr>
          <a:xfrm>
            <a:off x="8077320" y="160020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Google Shape;997;p65"/>
          <p:cNvSpPr/>
          <p:nvPr/>
        </p:nvSpPr>
        <p:spPr>
          <a:xfrm>
            <a:off x="8077320" y="1981080"/>
            <a:ext cx="1066320" cy="380520"/>
          </a:xfrm>
          <a:prstGeom prst="rect">
            <a:avLst/>
          </a:prstGeom>
          <a:solidFill>
            <a:srgbClr val="fbe4d4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Google Shape;998;p65"/>
          <p:cNvSpPr/>
          <p:nvPr/>
        </p:nvSpPr>
        <p:spPr>
          <a:xfrm>
            <a:off x="9144000" y="164160"/>
            <a:ext cx="947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Address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Google Shape;999;p65"/>
          <p:cNvSpPr/>
          <p:nvPr/>
        </p:nvSpPr>
        <p:spPr>
          <a:xfrm>
            <a:off x="9220320" y="4572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Google Shape;1000;p65"/>
          <p:cNvSpPr/>
          <p:nvPr/>
        </p:nvSpPr>
        <p:spPr>
          <a:xfrm>
            <a:off x="9220320" y="8524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Google Shape;1001;p65"/>
          <p:cNvSpPr/>
          <p:nvPr/>
        </p:nvSpPr>
        <p:spPr>
          <a:xfrm>
            <a:off x="9220320" y="12477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0x11c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Google Shape;1002;p65"/>
          <p:cNvSpPr/>
          <p:nvPr/>
        </p:nvSpPr>
        <p:spPr>
          <a:xfrm>
            <a:off x="9220320" y="16430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Google Shape;1003;p65"/>
          <p:cNvSpPr/>
          <p:nvPr/>
        </p:nvSpPr>
        <p:spPr>
          <a:xfrm>
            <a:off x="9220320" y="20383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Google Shape;1004;p65"/>
          <p:cNvSpPr/>
          <p:nvPr/>
        </p:nvSpPr>
        <p:spPr>
          <a:xfrm>
            <a:off x="9220320" y="243360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0x110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Google Shape;1005;p65"/>
          <p:cNvSpPr/>
          <p:nvPr/>
        </p:nvSpPr>
        <p:spPr>
          <a:xfrm>
            <a:off x="9220320" y="282888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0x10c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Google Shape;1006;p65"/>
          <p:cNvSpPr/>
          <p:nvPr/>
        </p:nvSpPr>
        <p:spPr>
          <a:xfrm>
            <a:off x="9220320" y="322416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0x108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Google Shape;1007;p65"/>
          <p:cNvSpPr/>
          <p:nvPr/>
        </p:nvSpPr>
        <p:spPr>
          <a:xfrm>
            <a:off x="9220320" y="361944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Google Shape;1008;p65"/>
          <p:cNvSpPr/>
          <p:nvPr/>
        </p:nvSpPr>
        <p:spPr>
          <a:xfrm>
            <a:off x="9220320" y="4014720"/>
            <a:ext cx="121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0x100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Google Shape;1009;p65"/>
          <p:cNvSpPr/>
          <p:nvPr/>
        </p:nvSpPr>
        <p:spPr>
          <a:xfrm>
            <a:off x="6553080" y="236232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Google Shape;1010;p65"/>
          <p:cNvSpPr/>
          <p:nvPr/>
        </p:nvSpPr>
        <p:spPr>
          <a:xfrm>
            <a:off x="6553080" y="2743200"/>
            <a:ext cx="653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72" name="Google Shape;1011;p65"/>
          <p:cNvGrpSpPr/>
          <p:nvPr/>
        </p:nvGrpSpPr>
        <p:grpSpPr>
          <a:xfrm>
            <a:off x="2057400" y="1523880"/>
            <a:ext cx="685440" cy="3580920"/>
            <a:chOff x="2057400" y="1523880"/>
            <a:chExt cx="685440" cy="3580920"/>
          </a:xfrm>
        </p:grpSpPr>
        <p:sp>
          <p:nvSpPr>
            <p:cNvPr id="673" name="Google Shape;1012;p65"/>
            <p:cNvSpPr/>
            <p:nvPr/>
          </p:nvSpPr>
          <p:spPr>
            <a:xfrm>
              <a:off x="2057400" y="1523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%eax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4" name="Google Shape;1013;p65"/>
            <p:cNvSpPr/>
            <p:nvPr/>
          </p:nvSpPr>
          <p:spPr>
            <a:xfrm>
              <a:off x="2057400" y="19810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5" name="Google Shape;1014;p65"/>
            <p:cNvSpPr/>
            <p:nvPr/>
          </p:nvSpPr>
          <p:spPr>
            <a:xfrm>
              <a:off x="2057400" y="24382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%ecx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6" name="Google Shape;1015;p65"/>
            <p:cNvSpPr/>
            <p:nvPr/>
          </p:nvSpPr>
          <p:spPr>
            <a:xfrm>
              <a:off x="2057400" y="28954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%ebx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7" name="Google Shape;1016;p65"/>
            <p:cNvSpPr/>
            <p:nvPr/>
          </p:nvSpPr>
          <p:spPr>
            <a:xfrm>
              <a:off x="2057400" y="33526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8" name="Google Shape;1017;p65"/>
            <p:cNvSpPr/>
            <p:nvPr/>
          </p:nvSpPr>
          <p:spPr>
            <a:xfrm>
              <a:off x="2057400" y="3809880"/>
              <a:ext cx="685440" cy="380520"/>
            </a:xfrm>
            <a:prstGeom prst="rect">
              <a:avLst/>
            </a:prstGeom>
            <a:solidFill>
              <a:schemeClr val="lt1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%edi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9" name="Google Shape;1018;p65"/>
            <p:cNvSpPr/>
            <p:nvPr/>
          </p:nvSpPr>
          <p:spPr>
            <a:xfrm>
              <a:off x="2057400" y="42670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%esp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0" name="Google Shape;1019;p65"/>
            <p:cNvSpPr/>
            <p:nvPr/>
          </p:nvSpPr>
          <p:spPr>
            <a:xfrm>
              <a:off x="2057400" y="4724280"/>
              <a:ext cx="685440" cy="38052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chemeClr val="dk1"/>
                  </a:solidFill>
                  <a:latin typeface="Courier New"/>
                  <a:ea typeface="Courier New"/>
                </a:rPr>
                <a:t>%ebp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81" name="Google Shape;1020;p65"/>
          <p:cNvSpPr/>
          <p:nvPr/>
        </p:nvSpPr>
        <p:spPr>
          <a:xfrm>
            <a:off x="2743200" y="1523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456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Google Shape;1021;p65"/>
          <p:cNvSpPr/>
          <p:nvPr/>
        </p:nvSpPr>
        <p:spPr>
          <a:xfrm>
            <a:off x="2743200" y="19810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Google Shape;1022;p65"/>
          <p:cNvSpPr/>
          <p:nvPr/>
        </p:nvSpPr>
        <p:spPr>
          <a:xfrm>
            <a:off x="2743200" y="24382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0x120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Google Shape;1023;p65"/>
          <p:cNvSpPr/>
          <p:nvPr/>
        </p:nvSpPr>
        <p:spPr>
          <a:xfrm>
            <a:off x="2743200" y="33526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Google Shape;1024;p65"/>
          <p:cNvSpPr/>
          <p:nvPr/>
        </p:nvSpPr>
        <p:spPr>
          <a:xfrm>
            <a:off x="2743200" y="38098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Google Shape;1025;p65"/>
          <p:cNvSpPr/>
          <p:nvPr/>
        </p:nvSpPr>
        <p:spPr>
          <a:xfrm>
            <a:off x="2743200" y="4267080"/>
            <a:ext cx="1066320" cy="38052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Google Shape;1026;p65"/>
          <p:cNvSpPr/>
          <p:nvPr/>
        </p:nvSpPr>
        <p:spPr>
          <a:xfrm>
            <a:off x="2743200" y="4724280"/>
            <a:ext cx="1066320" cy="38052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0x104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Google Shape;1027;p65"/>
          <p:cNvSpPr/>
          <p:nvPr/>
        </p:nvSpPr>
        <p:spPr>
          <a:xfrm>
            <a:off x="2743200" y="2895480"/>
            <a:ext cx="1066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Google Shape;1028;p65"/>
          <p:cNvSpPr/>
          <p:nvPr/>
        </p:nvSpPr>
        <p:spPr>
          <a:xfrm>
            <a:off x="2743200" y="2895480"/>
            <a:ext cx="1066320" cy="380520"/>
          </a:xfrm>
          <a:prstGeom prst="rect">
            <a:avLst/>
          </a:prstGeom>
          <a:solidFill>
            <a:schemeClr val="lt1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Google Shape;1029;p65"/>
          <p:cNvSpPr/>
          <p:nvPr/>
        </p:nvSpPr>
        <p:spPr>
          <a:xfrm>
            <a:off x="4267080" y="4495680"/>
            <a:ext cx="594324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8(%ebp), %edx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edx = xp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12(%ebp), %ecx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ecx = yp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(%edx), %ebx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ebx = *xp (t0)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(%ecx), %eax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eax = *yp (t1)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%eax, (%edx)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 *xp = t1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movl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%ebx, (%ecx)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	</a:t>
            </a:r>
            <a:r>
              <a:rPr b="0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# *yp = t0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640080" y="94680"/>
            <a:ext cx="807696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Complete Memory Addressing Modes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PlaceHolder 2"/>
          <p:cNvSpPr>
            <a:spLocks noGrp="1"/>
          </p:cNvSpPr>
          <p:nvPr>
            <p:ph/>
          </p:nvPr>
        </p:nvSpPr>
        <p:spPr>
          <a:xfrm>
            <a:off x="1280160" y="667800"/>
            <a:ext cx="8841240" cy="611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3920" indent="-22392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Most General Form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D(Rb,Ri,S)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Mem[Reg[Rb]+S*Reg[Ri]+ D]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D: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Constant “displacement” 1, 2, or 4 bytes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Rb: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Base register: Any of 8 integer registers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Ri: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Index register: Any, except for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%esp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839880" indent="-165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Unlikely you’d use </a:t>
            </a:r>
            <a:r>
              <a:rPr b="1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%ebp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, either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560520" indent="-222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S: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Scale: 1, 2, 4, or 8 (</a:t>
            </a:r>
            <a:r>
              <a:rPr b="0" i="1" lang="en-US" sz="2400" spc="-1" strike="noStrike">
                <a:solidFill>
                  <a:srgbClr val="c00000"/>
                </a:solidFill>
                <a:latin typeface="Calibri"/>
                <a:ea typeface="Calibri"/>
              </a:rPr>
              <a:t>why these numbers?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3920" indent="-46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Special Cases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(Rb,Ri)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Mem[Reg[Rb]+Reg[Ri]]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D(Rb,Ri)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Mem[Reg[Rb]+Reg[Ri]+D]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3920" indent="-22392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(Rb,Ri,S)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Mem[Reg[Rb]+S*Reg[Ri]]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1040;p67"/>
          <p:cNvSpPr/>
          <p:nvPr/>
        </p:nvSpPr>
        <p:spPr>
          <a:xfrm>
            <a:off x="2705040" y="4780080"/>
            <a:ext cx="6451200" cy="68544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Google Shape;1041;p67"/>
          <p:cNvSpPr/>
          <p:nvPr/>
        </p:nvSpPr>
        <p:spPr>
          <a:xfrm>
            <a:off x="2705040" y="2933640"/>
            <a:ext cx="6451200" cy="38052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119160" indent="-1191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Data Representations: IA32 + x86-64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Sizes of C Objects (in Bytes)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      </a:t>
            </a:r>
            <a:r>
              <a:rPr b="1" i="1" lang="en-US" sz="2400" spc="-1" strike="noStrike">
                <a:solidFill>
                  <a:srgbClr val="980002"/>
                </a:solidFill>
                <a:latin typeface="Calibri"/>
                <a:ea typeface="Calibri"/>
              </a:rPr>
              <a:t>    </a:t>
            </a:r>
            <a:r>
              <a:rPr b="1" i="1" lang="en-US" sz="2400" spc="-1" strike="noStrike">
                <a:solidFill>
                  <a:srgbClr val="980002"/>
                </a:solidFill>
                <a:latin typeface="Calibri"/>
                <a:ea typeface="Calibri"/>
              </a:rPr>
              <a:t>C Data Type</a:t>
            </a:r>
            <a:r>
              <a:rPr b="1" i="1" lang="en-US" sz="2400" spc="-1" strike="noStrike">
                <a:solidFill>
                  <a:srgbClr val="980002"/>
                </a:solidFill>
                <a:latin typeface="Calibri"/>
                <a:ea typeface="Calibri"/>
              </a:rPr>
              <a:t>	</a:t>
            </a:r>
            <a:r>
              <a:rPr b="1" i="1" lang="en-US" sz="2400" spc="-1" strike="noStrike">
                <a:solidFill>
                  <a:srgbClr val="980002"/>
                </a:solidFill>
                <a:latin typeface="Calibri"/>
                <a:ea typeface="Calibri"/>
              </a:rPr>
              <a:t>Generic 32-bit</a:t>
            </a:r>
            <a:r>
              <a:rPr b="1" i="1" lang="en-US" sz="2400" spc="-1" strike="noStrike">
                <a:solidFill>
                  <a:srgbClr val="980002"/>
                </a:solidFill>
                <a:latin typeface="Calibri"/>
                <a:ea typeface="Calibri"/>
              </a:rPr>
              <a:t>	</a:t>
            </a:r>
            <a:r>
              <a:rPr b="1" i="1" lang="en-US" sz="2400" spc="-1" strike="noStrike">
                <a:solidFill>
                  <a:srgbClr val="980002"/>
                </a:solidFill>
                <a:latin typeface="Calibri"/>
                <a:ea typeface="Calibri"/>
              </a:rPr>
              <a:t>Intel IA32</a:t>
            </a:r>
            <a:r>
              <a:rPr b="1" i="1" lang="en-US" sz="2400" spc="-1" strike="noStrike">
                <a:solidFill>
                  <a:srgbClr val="980002"/>
                </a:solidFill>
                <a:latin typeface="Calibri"/>
                <a:ea typeface="Calibri"/>
              </a:rPr>
              <a:t>	</a:t>
            </a:r>
            <a:r>
              <a:rPr b="1" i="1" lang="en-US" sz="2400" spc="-1" strike="noStrike">
                <a:solidFill>
                  <a:srgbClr val="980002"/>
                </a:solidFill>
                <a:latin typeface="Calibri"/>
                <a:ea typeface="Calibri"/>
              </a:rPr>
              <a:t>x86-64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83808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unsigned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808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int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808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long int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8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808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char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1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1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1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808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short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2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2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808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float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808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double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8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8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8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808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long double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8                   10/12                    10/16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83808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char *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8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3" marL="1181160" indent="-228600">
              <a:lnSpc>
                <a:spcPct val="90000"/>
              </a:lnSpc>
              <a:spcBef>
                <a:spcPts val="99"/>
              </a:spcBef>
              <a:buClr>
                <a:srgbClr val="999999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999999"/>
                </a:solidFill>
                <a:latin typeface="Calibri"/>
                <a:ea typeface="Calibri"/>
              </a:rPr>
              <a:t>Or any other pointer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1048;p68"/>
          <p:cNvSpPr/>
          <p:nvPr/>
        </p:nvSpPr>
        <p:spPr>
          <a:xfrm>
            <a:off x="2286000" y="4800600"/>
            <a:ext cx="3555720" cy="533160"/>
          </a:xfrm>
          <a:prstGeom prst="rect">
            <a:avLst/>
          </a:prstGeom>
          <a:solidFill>
            <a:srgbClr val="efbfbf"/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%rsp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705240" y="-1252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119160" indent="-1191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x86-64 Integer Registers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/>
          </p:nvPr>
        </p:nvSpPr>
        <p:spPr>
          <a:xfrm>
            <a:off x="1814400" y="6019920"/>
            <a:ext cx="732924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6858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Extend existing registers.  Add 8 new ones.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Make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%ebp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/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%rbp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general purpose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Google Shape;1051;p68"/>
          <p:cNvSpPr/>
          <p:nvPr/>
        </p:nvSpPr>
        <p:spPr>
          <a:xfrm>
            <a:off x="4076640" y="118116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%eax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Google Shape;1052;p68"/>
          <p:cNvSpPr/>
          <p:nvPr/>
        </p:nvSpPr>
        <p:spPr>
          <a:xfrm>
            <a:off x="4076640" y="179064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Google Shape;1053;p68"/>
          <p:cNvSpPr/>
          <p:nvPr/>
        </p:nvSpPr>
        <p:spPr>
          <a:xfrm>
            <a:off x="4076640" y="240048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%ecx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Google Shape;1054;p68"/>
          <p:cNvSpPr/>
          <p:nvPr/>
        </p:nvSpPr>
        <p:spPr>
          <a:xfrm>
            <a:off x="4076640" y="300996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%edx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Google Shape;1055;p68"/>
          <p:cNvSpPr/>
          <p:nvPr/>
        </p:nvSpPr>
        <p:spPr>
          <a:xfrm>
            <a:off x="4076640" y="361944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%esi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Google Shape;1056;p68"/>
          <p:cNvSpPr/>
          <p:nvPr/>
        </p:nvSpPr>
        <p:spPr>
          <a:xfrm>
            <a:off x="4076640" y="422928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%edi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Google Shape;1057;p68"/>
          <p:cNvSpPr/>
          <p:nvPr/>
        </p:nvSpPr>
        <p:spPr>
          <a:xfrm>
            <a:off x="4076640" y="4838760"/>
            <a:ext cx="1752120" cy="44424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%esp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Google Shape;1058;p68"/>
          <p:cNvSpPr/>
          <p:nvPr/>
        </p:nvSpPr>
        <p:spPr>
          <a:xfrm>
            <a:off x="4076640" y="543564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%ebp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Google Shape;1059;p68"/>
          <p:cNvSpPr/>
          <p:nvPr/>
        </p:nvSpPr>
        <p:spPr>
          <a:xfrm>
            <a:off x="8039160" y="118116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%r8d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Google Shape;1060;p68"/>
          <p:cNvSpPr/>
          <p:nvPr/>
        </p:nvSpPr>
        <p:spPr>
          <a:xfrm>
            <a:off x="8039160" y="179064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%r9d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Google Shape;1061;p68"/>
          <p:cNvSpPr/>
          <p:nvPr/>
        </p:nvSpPr>
        <p:spPr>
          <a:xfrm>
            <a:off x="8039160" y="240048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%r10d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Google Shape;1062;p68"/>
          <p:cNvSpPr/>
          <p:nvPr/>
        </p:nvSpPr>
        <p:spPr>
          <a:xfrm>
            <a:off x="8039160" y="300996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%r11d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Google Shape;1063;p68"/>
          <p:cNvSpPr/>
          <p:nvPr/>
        </p:nvSpPr>
        <p:spPr>
          <a:xfrm>
            <a:off x="8039160" y="361944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%r12d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Google Shape;1064;p68"/>
          <p:cNvSpPr/>
          <p:nvPr/>
        </p:nvSpPr>
        <p:spPr>
          <a:xfrm>
            <a:off x="8039160" y="422928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%r13d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Google Shape;1065;p68"/>
          <p:cNvSpPr/>
          <p:nvPr/>
        </p:nvSpPr>
        <p:spPr>
          <a:xfrm>
            <a:off x="8039160" y="483876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%r14d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Google Shape;1066;p68"/>
          <p:cNvSpPr/>
          <p:nvPr/>
        </p:nvSpPr>
        <p:spPr>
          <a:xfrm>
            <a:off x="8039160" y="5448240"/>
            <a:ext cx="1765080" cy="444240"/>
          </a:xfrm>
          <a:prstGeom prst="rect">
            <a:avLst/>
          </a:prstGeom>
          <a:solidFill>
            <a:srgbClr val="d8d8d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%r15d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Google Shape;1067;p68"/>
          <p:cNvSpPr/>
          <p:nvPr/>
        </p:nvSpPr>
        <p:spPr>
          <a:xfrm>
            <a:off x="6248520" y="114300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%r8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Google Shape;1068;p68"/>
          <p:cNvSpPr/>
          <p:nvPr/>
        </p:nvSpPr>
        <p:spPr>
          <a:xfrm>
            <a:off x="6248520" y="175248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%r9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Google Shape;1069;p68"/>
          <p:cNvSpPr/>
          <p:nvPr/>
        </p:nvSpPr>
        <p:spPr>
          <a:xfrm>
            <a:off x="6248520" y="236232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%r10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Google Shape;1070;p68"/>
          <p:cNvSpPr/>
          <p:nvPr/>
        </p:nvSpPr>
        <p:spPr>
          <a:xfrm>
            <a:off x="6248520" y="297180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%r11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Google Shape;1071;p68"/>
          <p:cNvSpPr/>
          <p:nvPr/>
        </p:nvSpPr>
        <p:spPr>
          <a:xfrm>
            <a:off x="6248520" y="358128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%r12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Google Shape;1072;p68"/>
          <p:cNvSpPr/>
          <p:nvPr/>
        </p:nvSpPr>
        <p:spPr>
          <a:xfrm>
            <a:off x="6248520" y="419112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%r13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Google Shape;1073;p68"/>
          <p:cNvSpPr/>
          <p:nvPr/>
        </p:nvSpPr>
        <p:spPr>
          <a:xfrm>
            <a:off x="6248520" y="480060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%r14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Google Shape;1074;p68"/>
          <p:cNvSpPr/>
          <p:nvPr/>
        </p:nvSpPr>
        <p:spPr>
          <a:xfrm>
            <a:off x="6248520" y="541008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%r15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Google Shape;1075;p68"/>
          <p:cNvSpPr/>
          <p:nvPr/>
        </p:nvSpPr>
        <p:spPr>
          <a:xfrm>
            <a:off x="2286000" y="114300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%rax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Google Shape;1076;p68"/>
          <p:cNvSpPr/>
          <p:nvPr/>
        </p:nvSpPr>
        <p:spPr>
          <a:xfrm>
            <a:off x="2286000" y="175248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%rbx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Google Shape;1077;p68"/>
          <p:cNvSpPr/>
          <p:nvPr/>
        </p:nvSpPr>
        <p:spPr>
          <a:xfrm>
            <a:off x="2286000" y="236232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%rcx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Google Shape;1078;p68"/>
          <p:cNvSpPr/>
          <p:nvPr/>
        </p:nvSpPr>
        <p:spPr>
          <a:xfrm>
            <a:off x="2286000" y="297180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%rdx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Google Shape;1079;p68"/>
          <p:cNvSpPr/>
          <p:nvPr/>
        </p:nvSpPr>
        <p:spPr>
          <a:xfrm>
            <a:off x="2286000" y="358128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%rsi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Google Shape;1080;p68"/>
          <p:cNvSpPr/>
          <p:nvPr/>
        </p:nvSpPr>
        <p:spPr>
          <a:xfrm>
            <a:off x="2286000" y="419112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%rdi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Google Shape;1081;p68"/>
          <p:cNvSpPr/>
          <p:nvPr/>
        </p:nvSpPr>
        <p:spPr>
          <a:xfrm>
            <a:off x="2286000" y="5410080"/>
            <a:ext cx="3555720" cy="533160"/>
          </a:xfrm>
          <a:prstGeom prst="rect">
            <a:avLst/>
          </a:pr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%rbp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119160" indent="-1191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Instructions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8908"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Long word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  <a:ea typeface="Courier New"/>
              </a:rPr>
              <a:t>l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 (4 Bytes) ↔ Quad word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  <a:ea typeface="Courier New"/>
              </a:rPr>
              <a:t>q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 (8 Bytes)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50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New instructions: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5526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➙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movq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526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addl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➙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addq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526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sall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➙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salq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526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etc.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552600" indent="-7632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32-bit instructions that generate 32-bit results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5526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Set higher order bits of destination register to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  <a:ea typeface="Arial"/>
              </a:rPr>
              <a:t>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5526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Example: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addl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652680" y="88560"/>
            <a:ext cx="765792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32-bit code for swap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Google Shape;1093;p70"/>
          <p:cNvSpPr/>
          <p:nvPr/>
        </p:nvSpPr>
        <p:spPr>
          <a:xfrm>
            <a:off x="1752480" y="1546200"/>
            <a:ext cx="3962160" cy="202356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void swap(int *xp, int *yp)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{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t0 = *xp;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t1 = *yp;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*xp = t1;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*yp = t0;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}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Google Shape;1094;p70"/>
          <p:cNvSpPr/>
          <p:nvPr/>
        </p:nvSpPr>
        <p:spPr>
          <a:xfrm>
            <a:off x="9310680" y="2514600"/>
            <a:ext cx="271080" cy="1904760"/>
          </a:xfrm>
          <a:prstGeom prst="rightBrace">
            <a:avLst>
              <a:gd name="adj1" fmla="val 58480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Google Shape;1095;p70"/>
          <p:cNvSpPr/>
          <p:nvPr/>
        </p:nvSpPr>
        <p:spPr>
          <a:xfrm>
            <a:off x="9658440" y="3282840"/>
            <a:ext cx="65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Body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Google Shape;1096;p70"/>
          <p:cNvSpPr/>
          <p:nvPr/>
        </p:nvSpPr>
        <p:spPr>
          <a:xfrm>
            <a:off x="9302760" y="1447920"/>
            <a:ext cx="279000" cy="83772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Google Shape;1097;p70"/>
          <p:cNvSpPr/>
          <p:nvPr/>
        </p:nvSpPr>
        <p:spPr>
          <a:xfrm>
            <a:off x="9658440" y="1546200"/>
            <a:ext cx="48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Up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Google Shape;1098;p70"/>
          <p:cNvSpPr/>
          <p:nvPr/>
        </p:nvSpPr>
        <p:spPr>
          <a:xfrm>
            <a:off x="9301320" y="4800600"/>
            <a:ext cx="280800" cy="886680"/>
          </a:xfrm>
          <a:prstGeom prst="rightBrace">
            <a:avLst>
              <a:gd name="adj1" fmla="val 36158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Google Shape;1099;p70"/>
          <p:cNvSpPr/>
          <p:nvPr/>
        </p:nvSpPr>
        <p:spPr>
          <a:xfrm>
            <a:off x="9658440" y="5029200"/>
            <a:ext cx="729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Finish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Google Shape;1100;p70"/>
          <p:cNvSpPr/>
          <p:nvPr/>
        </p:nvSpPr>
        <p:spPr>
          <a:xfrm>
            <a:off x="5715000" y="1066680"/>
            <a:ext cx="4190760" cy="47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swap: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pushl %ebp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  %esp,%ebp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pushl %ebx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8(%ebp), %edx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12(%ebp), %ecx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(%edx), %ebx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(%ecx), %eax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%eax, (%edx)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%ebx, (%ecx)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popl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%ebx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popl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%ebp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ret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515520" y="136440"/>
            <a:ext cx="1079784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64-bit code for swap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/>
          </p:nvPr>
        </p:nvSpPr>
        <p:spPr>
          <a:xfrm>
            <a:off x="1920960" y="4038480"/>
            <a:ext cx="7895880" cy="178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8203"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Operands passed in registers (why useful?)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5526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First (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xp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) in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%rdi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, second (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yp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) in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%rsi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526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64-bit pointers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No stack operations required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32-bit data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5526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Data held in registers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%eax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and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%edx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526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operation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1306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Google Shape;1107;p71"/>
          <p:cNvSpPr/>
          <p:nvPr/>
        </p:nvSpPr>
        <p:spPr>
          <a:xfrm>
            <a:off x="1752480" y="1546200"/>
            <a:ext cx="3962160" cy="202356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void swap(int *xp, int *yp)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{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t0 = *xp;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int t1 = *yp;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*xp = t1;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*yp = t0;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}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Google Shape;1108;p71"/>
          <p:cNvSpPr/>
          <p:nvPr/>
        </p:nvSpPr>
        <p:spPr>
          <a:xfrm>
            <a:off x="9310680" y="2133720"/>
            <a:ext cx="271080" cy="1142640"/>
          </a:xfrm>
          <a:prstGeom prst="rightBrace">
            <a:avLst>
              <a:gd name="adj1" fmla="val 58480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Google Shape;1109;p71"/>
          <p:cNvSpPr/>
          <p:nvPr/>
        </p:nvSpPr>
        <p:spPr>
          <a:xfrm>
            <a:off x="9658440" y="2438280"/>
            <a:ext cx="65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Body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Google Shape;1110;p71"/>
          <p:cNvSpPr/>
          <p:nvPr/>
        </p:nvSpPr>
        <p:spPr>
          <a:xfrm>
            <a:off x="9302760" y="1447920"/>
            <a:ext cx="279000" cy="45684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Google Shape;1111;p71"/>
          <p:cNvSpPr/>
          <p:nvPr/>
        </p:nvSpPr>
        <p:spPr>
          <a:xfrm>
            <a:off x="9658440" y="1295280"/>
            <a:ext cx="48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Up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Google Shape;1112;p71"/>
          <p:cNvSpPr/>
          <p:nvPr/>
        </p:nvSpPr>
        <p:spPr>
          <a:xfrm>
            <a:off x="9301320" y="3505320"/>
            <a:ext cx="280800" cy="380520"/>
          </a:xfrm>
          <a:prstGeom prst="rightBrace">
            <a:avLst>
              <a:gd name="adj1" fmla="val 36158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Google Shape;1113;p71"/>
          <p:cNvSpPr/>
          <p:nvPr/>
        </p:nvSpPr>
        <p:spPr>
          <a:xfrm>
            <a:off x="9658440" y="3505320"/>
            <a:ext cx="729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Finish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Google Shape;1114;p71"/>
          <p:cNvSpPr/>
          <p:nvPr/>
        </p:nvSpPr>
        <p:spPr>
          <a:xfrm>
            <a:off x="5832360" y="1193040"/>
            <a:ext cx="4190760" cy="28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swap: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(%rdi), %edx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(%rsi), %eax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%eax, (%rdi)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movl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%edx, (%rsi)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ret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64-bit code for long int swap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PlaceHolder 2"/>
          <p:cNvSpPr>
            <a:spLocks noGrp="1"/>
          </p:cNvSpPr>
          <p:nvPr>
            <p:ph/>
          </p:nvPr>
        </p:nvSpPr>
        <p:spPr>
          <a:xfrm>
            <a:off x="1933560" y="4038480"/>
            <a:ext cx="7895880" cy="178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64-bit data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5526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Data held in registers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%rax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and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%rdx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5526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r>
              <a:rPr b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mov</a:t>
            </a:r>
            <a:r>
              <a:rPr b="1" i="1" lang="en-US" sz="2400" spc="-1" strike="noStrike">
                <a:solidFill>
                  <a:schemeClr val="dk1"/>
                </a:solidFill>
                <a:latin typeface="Courier New"/>
                <a:ea typeface="Courier New"/>
              </a:rPr>
              <a:t>q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 operation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95256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“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q” stands for quad-word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Google Shape;1121;p72"/>
          <p:cNvSpPr/>
          <p:nvPr/>
        </p:nvSpPr>
        <p:spPr>
          <a:xfrm>
            <a:off x="1676520" y="1546200"/>
            <a:ext cx="4190760" cy="202824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void swap(long *xp, long *yp)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{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long t0 = *xp;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long t1 = *yp;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*xp = t1;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*yp = t0;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}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Google Shape;1122;p72"/>
          <p:cNvSpPr/>
          <p:nvPr/>
        </p:nvSpPr>
        <p:spPr>
          <a:xfrm>
            <a:off x="9310680" y="2133720"/>
            <a:ext cx="271080" cy="1142640"/>
          </a:xfrm>
          <a:prstGeom prst="rightBrace">
            <a:avLst>
              <a:gd name="adj1" fmla="val 58480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Google Shape;1123;p72"/>
          <p:cNvSpPr/>
          <p:nvPr/>
        </p:nvSpPr>
        <p:spPr>
          <a:xfrm>
            <a:off x="9658440" y="2438280"/>
            <a:ext cx="65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Body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Google Shape;1124;p72"/>
          <p:cNvSpPr/>
          <p:nvPr/>
        </p:nvSpPr>
        <p:spPr>
          <a:xfrm>
            <a:off x="9302760" y="1447920"/>
            <a:ext cx="279000" cy="45684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Google Shape;1125;p72"/>
          <p:cNvSpPr/>
          <p:nvPr/>
        </p:nvSpPr>
        <p:spPr>
          <a:xfrm>
            <a:off x="9658440" y="1295280"/>
            <a:ext cx="48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Up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Google Shape;1126;p72"/>
          <p:cNvSpPr/>
          <p:nvPr/>
        </p:nvSpPr>
        <p:spPr>
          <a:xfrm>
            <a:off x="9301320" y="3505320"/>
            <a:ext cx="280800" cy="380520"/>
          </a:xfrm>
          <a:prstGeom prst="rightBrace">
            <a:avLst>
              <a:gd name="adj1" fmla="val 36158"/>
              <a:gd name="adj2" fmla="val 50000"/>
            </a:avLst>
          </a:prstGeom>
          <a:noFill/>
          <a:ln w="25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Google Shape;1127;p72"/>
          <p:cNvSpPr/>
          <p:nvPr/>
        </p:nvSpPr>
        <p:spPr>
          <a:xfrm>
            <a:off x="9658440" y="3505320"/>
            <a:ext cx="729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Finish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Google Shape;1128;p72"/>
          <p:cNvSpPr/>
          <p:nvPr/>
        </p:nvSpPr>
        <p:spPr>
          <a:xfrm>
            <a:off x="5715000" y="1066680"/>
            <a:ext cx="4190760" cy="28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swap_l: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movq    (%rdi), %rdx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movq    (%rsi), %rax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movq    %rax, (%rdi)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movq    %rdx, (%rsi)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Courier New"/>
              </a:rPr>
              <a:t>ret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Calling conventions : X86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PlaceHolder 2"/>
          <p:cNvSpPr>
            <a:spLocks noGrp="1"/>
          </p:cNvSpPr>
          <p:nvPr>
            <p:ph/>
          </p:nvPr>
        </p:nvSpPr>
        <p:spPr>
          <a:xfrm>
            <a:off x="904680" y="1925280"/>
            <a:ext cx="3484080" cy="379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int callee(int, int, int);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int caller(void)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{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 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return callee(1, 2, 3) + 5;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}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Google Shape;1135;p73"/>
          <p:cNvSpPr/>
          <p:nvPr/>
        </p:nvSpPr>
        <p:spPr>
          <a:xfrm>
            <a:off x="3790440" y="1802520"/>
            <a:ext cx="7813440" cy="456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Google Shape;1136;p73"/>
          <p:cNvSpPr/>
          <p:nvPr/>
        </p:nvSpPr>
        <p:spPr>
          <a:xfrm>
            <a:off x="4976640" y="1925280"/>
            <a:ext cx="6694200" cy="369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caller: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push    ebp       ; save old call frame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 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mov     ebp, esp  ; initialize new call frame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  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push    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 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push    2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 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push    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 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call    callee    ; call subroutine 'callee'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 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add     esp, 12   ; remove call arguments from frame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 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add     eax, 5    ; modify subroutine result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  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mov     esp, ebp  ; most calling conventions dictate ebp be callee-saved,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pop     ebp       ; restore old call frame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  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ret               ; return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Calling conventions : X86_64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long myfunc(long a, long b, long c, long d,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           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long e, long f, long g, long h)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{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   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long xx = a * b * c * d * e * f * g * h;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   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long yy = a + b + c + d + e + f + g + h;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   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long zz = utilfunc(xx, yy, xx % yy);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   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return zz + 20;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}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8" name="Google Shape;1143;p74" descr=""/>
          <p:cNvPicPr/>
          <p:nvPr/>
        </p:nvPicPr>
        <p:blipFill>
          <a:blip r:embed="rId1"/>
          <a:stretch/>
        </p:blipFill>
        <p:spPr>
          <a:xfrm>
            <a:off x="5721840" y="1825560"/>
            <a:ext cx="5564520" cy="424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LibreOffice/24.2.3.2$Windows_X86_64 LibreOffice_project/433d9c2ded56988e8a90e6b2e771ee4e6a5ab2ba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2025-02-10T02:03:57Z</dcterms:modified>
  <cp:revision>1</cp:revision>
  <dc:subject/>
  <dc:title/>
</cp:coreProperties>
</file>