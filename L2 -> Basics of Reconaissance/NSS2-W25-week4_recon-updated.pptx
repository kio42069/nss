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4.jpeg" ContentType="image/jpeg"/>
  <Override PartName="/ppt/media/image3.jpeg" ContentType="image/jpeg"/>
  <Override PartName="/ppt/media/image5.png" ContentType="image/png"/>
  <Override PartName="/ppt/media/image6.gif" ContentType="image/gif"/>
  <Override PartName="/ppt/media/image7.gif" ContentType="image/gif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8.jpeg" ContentType="image/jpeg"/>
  <Override PartName="/ppt/media/image13.png" ContentType="image/png"/>
  <Override PartName="/ppt/media/image14.png" ContentType="image/png"/>
  <Override PartName="/ppt/media/image15.png" ContentType="image/png"/>
  <Override PartName="/ppt/media/image16.jpeg" ContentType="image/jpe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</p:sld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B93B75-4FA9-43E7-A6FF-37E799F5A0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F5A902-8CA6-4F5D-8EF2-49F11F7A07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C872DA-3CD4-4C11-8006-E46B4B3EBF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006425F-5683-4FE5-A0A0-CAE4DD02F0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91B46BD-EE68-4D84-805D-5FBECDDE5D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419AE2E-6050-4510-82C0-26307BFF36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044904D-8C93-421B-9981-A79F16B183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B5841E9-EB88-4AA6-B513-12F27F8091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4B22F91-1023-46E1-A6F0-C5EDFEC838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75B89F3-D72A-42BF-83A9-1D2CEEC865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1AD29CE-3BA9-48D5-8C33-D653D2494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982C6B8-95CE-43B7-BFDC-6210B9F052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E0F7642-7073-4FB4-A1A0-0B194ACEC4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8827E2CA-3454-4823-BE8E-E892B793C8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B209E6D-640A-428D-8E31-1D49C8E4C4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2C08E2D-0404-4DA7-96D9-BE3C923C7B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3F6C401-D350-4E60-81BA-31170D06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4F22C4D-2401-4505-B62B-A29AD2D204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CFD599-7D54-41DB-B506-FF3F9E947D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24D3D3-96D4-4A22-9C34-C237E2AC84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0CF914-A8FD-4FF2-8A4D-6888BC189C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09F7C9-C623-42C3-844C-0E6A6B4E39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05690B-CC98-4D3F-A24D-D5DF28732C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E0A695-B2A6-4667-92FB-62EECB2252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BE6300-D3FA-4420-9C5D-6A67755609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0DBA0A-7510-42FB-B896-3F61ED2045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C3D30E-523B-47CF-8675-9BF0461586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A33F68-E9BF-45C4-BC08-5B2275AFA8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E81770-2EBF-4E40-AFF7-765D7B5E41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E98FCA-1611-41A7-BE4A-A2F3D895D0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ACD8D3-1E88-44D4-83F6-D2A7166C0F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49EC3D-DD04-4466-93C7-FF12CAD45B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6345F2-1047-4841-BDF2-808F3C6949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2752D-72A0-4E2E-A45E-6FCE4560D1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63CA1B-174B-4772-97D1-5BF66D292E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DDD22B-4C85-4ADA-B402-B6C1E0F998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image" Target="../media/image7.gif"/><Relationship Id="rId3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/>
          <p:nvPr/>
        </p:nvSpPr>
        <p:spPr>
          <a:xfrm>
            <a:off x="1152720" y="1058760"/>
            <a:ext cx="9885960" cy="23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7222"/>
          </a:bodyPr>
          <a:p>
            <a:pPr algn="ctr" defTabSz="914400">
              <a:lnSpc>
                <a:spcPct val="90000"/>
              </a:lnSpc>
            </a:pPr>
            <a:r>
              <a:rPr b="0" i="1" lang="en-US" sz="6000" spc="-1" strike="noStrike">
                <a:solidFill>
                  <a:schemeClr val="dk1"/>
                </a:solidFill>
                <a:latin typeface="Mononoki Nerd Font Propo"/>
              </a:rPr>
              <a:t>Networks and Systems Security 2</a:t>
            </a:r>
            <a:br>
              <a:rPr sz="6000"/>
            </a:br>
            <a:r>
              <a:rPr b="0" lang="en-US" sz="3600" spc="-1" strike="noStrike">
                <a:solidFill>
                  <a:schemeClr val="dk1"/>
                </a:solidFill>
                <a:latin typeface="Mononoki Nerd Font Propo"/>
              </a:rPr>
              <a:t>CSE 354/554</a:t>
            </a:r>
            <a:br>
              <a:rPr sz="3600"/>
            </a:br>
            <a:r>
              <a:rPr b="0" lang="en-US" sz="3600" spc="-1" strike="noStrike">
                <a:solidFill>
                  <a:schemeClr val="dk1"/>
                </a:solidFill>
                <a:latin typeface="Mononoki Nerd Font Propo"/>
              </a:rPr>
              <a:t>Instructor: Sambuddho 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ubtitle 2"/>
          <p:cNvSpPr/>
          <p:nvPr/>
        </p:nvSpPr>
        <p:spPr>
          <a:xfrm>
            <a:off x="1252440" y="3740040"/>
            <a:ext cx="9143280" cy="16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Mononoki Nerd Font Propo"/>
              </a:rPr>
              <a:t>(Semester: Winter 2025)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Mononoki Nerd Font Propo"/>
              </a:rPr>
              <a:t>Week 4: Jan 27 -- 30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Propo"/>
              </a:rPr>
              <a:t>Network Reconnaissance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62960" y="1011240"/>
            <a:ext cx="11610720" cy="56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First step in analyzing network security setup.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Determine the available services (open ports), OS versions etc.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Popular applications – port scanning – searching for open services.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Nmap –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- Popular open source network reconnaissance scanner.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Works by sending crafted TCP packets to known ports to check for availability.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Mononoki Nerd Font Propo"/>
              </a:rPr>
              <a:t>Sequence of received packets are used to determine the availability AS WELL AS OS version numbers.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Propo"/>
              </a:rPr>
              <a:t>Nmap/Zenmap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35320" y="1049760"/>
            <a:ext cx="11254320" cy="580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 Half open SYN scan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 Send TCP SYN message to a host:port.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 If service is running (port listening) is up then you should get back a valid TCP SYN+ACK.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 If host up but no service running the you should get a RST+ACK.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  </a:t>
            </a: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Response varies as per OS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nmap –sS  192.168.2.3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nmap –A –p- -T4 192.168.2.3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 If host not up or behind a firewall: Response ‘filtered’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83760" y="53568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8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Exo"/>
              </a:rPr>
              <a:t>Nmap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Exo"/>
              </a:rPr>
              <a:t>complete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Exo"/>
              </a:rPr>
              <a:t>scan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4" descr=""/>
          <p:cNvPicPr/>
          <p:nvPr/>
        </p:nvPicPr>
        <p:blipFill>
          <a:blip r:embed="rId1"/>
          <a:stretch/>
        </p:blipFill>
        <p:spPr>
          <a:xfrm>
            <a:off x="4547160" y="57960"/>
            <a:ext cx="5767920" cy="671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Exo"/>
              </a:rPr>
              <a:t>Zenmap: GUI Based Platform for Nmap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2" descr=""/>
          <p:cNvPicPr/>
          <p:nvPr/>
        </p:nvPicPr>
        <p:blipFill>
          <a:blip r:embed="rId1"/>
          <a:stretch/>
        </p:blipFill>
        <p:spPr>
          <a:xfrm>
            <a:off x="2269080" y="997920"/>
            <a:ext cx="6539400" cy="585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Network Reconnaissance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43320" y="903240"/>
            <a:ext cx="11254320" cy="580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Purpose and benefits for attackers: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-Used as the first and most important tool in network vulnerability assessment and audit.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-Is often used by botmasters and bots to discover open vulnerable services and hosts.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Propo"/>
              </a:rPr>
              <a:t>-Port scanning, checking for open networks, networks which do not broadcast SSIDs (hidden APs), discovering the OSes and their versions.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Other Network Discovery Tools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43320" y="903240"/>
            <a:ext cx="11254320" cy="580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Mono"/>
              </a:rPr>
              <a:t>-Netstumbler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Mono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Mononoki Nerd Font Mono"/>
              </a:rPr>
              <a:t>-Fing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Mononoki Nerd Font Mono"/>
              </a:rPr>
              <a:t>-Cheops-NG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3" descr=""/>
          <p:cNvPicPr/>
          <p:nvPr/>
        </p:nvPicPr>
        <p:blipFill>
          <a:blip r:embed="rId1"/>
          <a:stretch/>
        </p:blipFill>
        <p:spPr>
          <a:xfrm>
            <a:off x="3303000" y="938160"/>
            <a:ext cx="8637840" cy="580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62960" y="-113040"/>
            <a:ext cx="118072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Other Network Discovery Tools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Content Placeholder 4" descr=""/>
          <p:cNvPicPr/>
          <p:nvPr/>
        </p:nvPicPr>
        <p:blipFill>
          <a:blip r:embed="rId1"/>
          <a:stretch/>
        </p:blipFill>
        <p:spPr>
          <a:xfrm>
            <a:off x="3125880" y="1058400"/>
            <a:ext cx="685440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72320" y="-9612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"/>
              </a:rPr>
              <a:t>MAC Address Scanning – apr-scan</a:t>
            </a:r>
            <a:endParaRPr b="0" lang="en-IN" sz="4400" spc="-1" strike="noStrike">
              <a:solidFill>
                <a:srgbClr val="000000"/>
              </a:solidFill>
              <a:latin typeface="Mononoki Nerd Font"/>
            </a:endParaRPr>
          </a:p>
        </p:txBody>
      </p:sp>
      <p:pic>
        <p:nvPicPr>
          <p:cNvPr id="105" name="Picture 2" descr="ARP Scan Screenshot 1 - HackersOnlineClub"/>
          <p:cNvPicPr/>
          <p:nvPr/>
        </p:nvPicPr>
        <p:blipFill>
          <a:blip r:embed="rId1"/>
          <a:stretch/>
        </p:blipFill>
        <p:spPr>
          <a:xfrm>
            <a:off x="472320" y="920880"/>
            <a:ext cx="10819440" cy="34905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72320" y="460548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onoki Nerd Font Mono"/>
              </a:rPr>
              <a:t>Scans a subnet for all IP addresses to determine their MAC addresses. Uses ARP requests. </a:t>
            </a:r>
            <a:endParaRPr b="0" lang="en-IN" sz="2400" spc="-1" strike="noStrike">
              <a:solidFill>
                <a:srgbClr val="000000"/>
              </a:solidFill>
              <a:latin typeface="Mononoki Nerd Font Mon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20000" y="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Aircrack – NG </a:t>
            </a:r>
            <a:endParaRPr b="0" lang="en-IN" sz="4400" spc="-1" strike="noStrike">
              <a:solidFill>
                <a:srgbClr val="000000"/>
              </a:solidFill>
              <a:latin typeface="Mononoki Nerd Font Mono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00000" y="9000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Mononoki Nerd Font Mono"/>
              </a:rPr>
              <a:t>Turns the wifi card to promiscuous mode and aids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onoki Nerd Font Mono"/>
              </a:rPr>
              <a:t>Packet capturing and analysis.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onoki Nerd Font Mono"/>
              </a:rPr>
              <a:t>Cracking WEP and WPA/WPA2-PSK keys.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3" descr=""/>
          <p:cNvPicPr/>
          <p:nvPr/>
        </p:nvPicPr>
        <p:blipFill>
          <a:blip r:embed="rId1"/>
          <a:stretch/>
        </p:blipFill>
        <p:spPr>
          <a:xfrm>
            <a:off x="-21960" y="2367000"/>
            <a:ext cx="5781960" cy="381420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4" descr=""/>
          <p:cNvPicPr/>
          <p:nvPr/>
        </p:nvPicPr>
        <p:blipFill>
          <a:blip r:embed="rId2"/>
          <a:stretch/>
        </p:blipFill>
        <p:spPr>
          <a:xfrm>
            <a:off x="5736600" y="2520000"/>
            <a:ext cx="650340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Exo"/>
              </a:rPr>
              <a:t>Discovering nearby networks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97440" y="1418040"/>
            <a:ext cx="11554560" cy="517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Exo"/>
              </a:rPr>
              <a:t># airodump wlan0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CH 9 ][ Elapsed: 1 min ][ 2007-04-26 17:41 ][ WPA handshake: 00:14:6C:7E:40:80</a:t>
            </a:r>
            <a:r>
              <a:rPr b="0" lang="en-US" sz="2000" spc="-1" strike="noStrike">
                <a:solidFill>
                  <a:schemeClr val="dk1"/>
                </a:solidFill>
                <a:latin typeface="Exo"/>
              </a:rPr>
              <a:t>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BSSID             PWR   RXQ   Beacons   #Data,   #/s CH MB ENC CIPHER AUTH ESSID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00:09:5B:1C:AA:1D 11     16     10       0       0   11 54. OPN NETGEAR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00:14:6C:7A:41:81 34     100    57      14       1   9  11e WEP WEP   bigbear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00:14:6C:7E:40:80 32     100   752      73       2   9  54  WPA TKIP  PSK teddy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BSSID             STATION           PWR Rate Lost Packets Probes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00:14:6C:7A:41:81 00:0F:B5:32:31:31 51 36-24    2   14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(not associated) 00:14:A4:3F:8D:13  19 0-0      0    4      mossy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00:14:6C:7A:41:81 00:0C:41:52:D1:D1 -1 36-36    0    5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00:14:6C:7E:40:80 00:0F:B5:FD:FB:C2 35 54-54    0    99     teddy</a:t>
            </a:r>
            <a:r>
              <a:rPr b="0" lang="en-US" sz="2000" spc="-1" strike="noStrike">
                <a:solidFill>
                  <a:schemeClr val="dk1"/>
                </a:solidFill>
                <a:latin typeface="Exo"/>
              </a:rPr>
              <a:t>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0" y="-21960"/>
            <a:ext cx="360" cy="500760"/>
          </a:xfrm>
          <a:prstGeom prst="rect">
            <a:avLst/>
          </a:prstGeom>
          <a:solidFill>
            <a:srgbClr val="fb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2221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0" y="-21960"/>
            <a:ext cx="360" cy="500760"/>
          </a:xfrm>
          <a:prstGeom prst="rect">
            <a:avLst/>
          </a:prstGeom>
          <a:solidFill>
            <a:srgbClr val="fb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2221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0" y="-21960"/>
            <a:ext cx="360" cy="500760"/>
          </a:xfrm>
          <a:prstGeom prst="rect">
            <a:avLst/>
          </a:prstGeom>
          <a:solidFill>
            <a:srgbClr val="fbfa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2221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72600" y="-2584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Mononoki Nerd Font Propo"/>
              </a:rPr>
              <a:t>Domain Reconnaissance - theHarvester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88680" y="861480"/>
            <a:ext cx="10514880" cy="184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Mononoki Nerd Font Propo"/>
              </a:rPr>
              <a:t>Takes input of domain name/emails and looks up all possible subdomains of a given domain, by mining from various sources – google, linkedin, baidu, facebook etc.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4" descr=""/>
          <p:cNvPicPr/>
          <p:nvPr/>
        </p:nvPicPr>
        <p:blipFill>
          <a:blip r:embed="rId1"/>
          <a:stretch/>
        </p:blipFill>
        <p:spPr>
          <a:xfrm>
            <a:off x="3350160" y="1958400"/>
            <a:ext cx="6177240" cy="485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72600" y="-258480"/>
            <a:ext cx="1157184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Mononoki Nerd Font Propo"/>
              </a:rPr>
              <a:t>Domain and Email Reconnaissance - theHarvester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5" descr=""/>
          <p:cNvPicPr/>
          <p:nvPr/>
        </p:nvPicPr>
        <p:blipFill>
          <a:blip r:embed="rId1"/>
          <a:stretch/>
        </p:blipFill>
        <p:spPr>
          <a:xfrm>
            <a:off x="74160" y="1325160"/>
            <a:ext cx="5468760" cy="508680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8" descr=""/>
          <p:cNvPicPr/>
          <p:nvPr/>
        </p:nvPicPr>
        <p:blipFill>
          <a:blip r:embed="rId2"/>
          <a:stretch/>
        </p:blipFill>
        <p:spPr>
          <a:xfrm>
            <a:off x="5652720" y="1042200"/>
            <a:ext cx="6448680" cy="565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Exo"/>
              </a:rPr>
              <a:t>More on Domain Reconnaissance – Sublist3r – focused on Domain Enlisting 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3" descr=""/>
          <p:cNvPicPr/>
          <p:nvPr/>
        </p:nvPicPr>
        <p:blipFill>
          <a:blip r:embed="rId1"/>
          <a:stretch/>
        </p:blipFill>
        <p:spPr>
          <a:xfrm>
            <a:off x="888120" y="1340280"/>
            <a:ext cx="10057680" cy="495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Exo"/>
              </a:rPr>
              <a:t>More on Domain Reconnaissance – Sublist3r – focused on Domain Enlisting 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2" descr=""/>
          <p:cNvPicPr/>
          <p:nvPr/>
        </p:nvPicPr>
        <p:blipFill>
          <a:blip r:embed="rId1"/>
          <a:stretch/>
        </p:blipFill>
        <p:spPr>
          <a:xfrm>
            <a:off x="731520" y="1150200"/>
            <a:ext cx="10842480" cy="534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23200" y="-3081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Exo"/>
              </a:rPr>
              <a:t>More on Domain Reconnaissance – Amass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-184320" y="603360"/>
            <a:ext cx="11554560" cy="517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Exo"/>
              </a:rPr>
              <a:t>Basic functionalities: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Exo"/>
              </a:rPr>
              <a:t>DNS:</a:t>
            </a:r>
            <a:r>
              <a:rPr b="0" lang="en-US" sz="1600" spc="-1" strike="noStrike">
                <a:solidFill>
                  <a:schemeClr val="dk1"/>
                </a:solidFill>
                <a:latin typeface="Exo"/>
              </a:rPr>
              <a:t> Enumeration, brute forcing, reverse DNS sweep, zone transfers.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Exo"/>
              </a:rPr>
              <a:t>Scraping: </a:t>
            </a:r>
            <a:r>
              <a:rPr b="0" lang="en-US" sz="1600" spc="-1" strike="noStrike">
                <a:solidFill>
                  <a:schemeClr val="dk1"/>
                </a:solidFill>
                <a:latin typeface="Exo"/>
              </a:rPr>
              <a:t>Baidu, Bing, Google, DNSDumpster, DNSTable, IPv4Info, Yahoo etc.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Exo"/>
              </a:rPr>
              <a:t>Certificates:</a:t>
            </a:r>
            <a:r>
              <a:rPr b="0" lang="en-US" sz="1600" spc="-1" strike="noStrike">
                <a:solidFill>
                  <a:schemeClr val="dk1"/>
                </a:solidFill>
                <a:latin typeface="Exo"/>
              </a:rPr>
              <a:t> Censys, CertSpotter, Crtsh, Entrust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Exo"/>
              </a:rPr>
              <a:t>APIs</a:t>
            </a:r>
            <a:r>
              <a:rPr b="0" lang="en-US" sz="1400" spc="-1" strike="noStrike">
                <a:solidFill>
                  <a:schemeClr val="dk1"/>
                </a:solidFill>
                <a:latin typeface="Exo"/>
              </a:rPr>
              <a:t>: AlienVault, BinaryEdge, BufferOver, CIRCL, CommonCrawl, DNSDB, GitHub, HackerTarget, IPToASN, Mnemonic, NetworksDB, PassiveTotal, Pastebin, RADb, Robtex, SecurityTrails, ShadowServer, Shodan, Spyse (CertDB &amp; FindSubdomains), Sublist3rAPI, TeamCymru, ThreatCrowd, Twitter, Umbrella, URLScan, VirusTotal, WhoisXML.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2" descr="OWASP Amass - DNS Enumeration, Attack Surface Mapping &amp; External Asset Discovery"/>
          <p:cNvPicPr/>
          <p:nvPr/>
        </p:nvPicPr>
        <p:blipFill>
          <a:blip r:embed="rId1"/>
          <a:stretch/>
        </p:blipFill>
        <p:spPr>
          <a:xfrm>
            <a:off x="2377440" y="2456280"/>
            <a:ext cx="6774480" cy="423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06280" y="34200"/>
            <a:ext cx="1135584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Exo"/>
              </a:rPr>
              <a:t>More on Domain Reconnaissance – Amass – Attack Surface Mapping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Picture 4" descr=""/>
          <p:cNvPicPr/>
          <p:nvPr/>
        </p:nvPicPr>
        <p:blipFill>
          <a:blip r:embed="rId1"/>
          <a:stretch/>
        </p:blipFill>
        <p:spPr>
          <a:xfrm>
            <a:off x="2688120" y="786960"/>
            <a:ext cx="4734720" cy="596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Exo"/>
              </a:rPr>
              <a:t>More on Domain Reconnaissance – crt.sh – focused on Domain Enlisting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3" descr=""/>
          <p:cNvPicPr/>
          <p:nvPr/>
        </p:nvPicPr>
        <p:blipFill>
          <a:blip r:embed="rId1"/>
          <a:stretch/>
        </p:blipFill>
        <p:spPr>
          <a:xfrm>
            <a:off x="955080" y="1059120"/>
            <a:ext cx="10589760" cy="552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Mononoki Nerd Font Mono"/>
              </a:rPr>
              <a:t>More on Domain Reconnaissance – dirbuster/gobuster – web directory listing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2" descr=""/>
          <p:cNvPicPr/>
          <p:nvPr/>
        </p:nvPicPr>
        <p:blipFill>
          <a:blip r:embed="rId1"/>
          <a:stretch/>
        </p:blipFill>
        <p:spPr>
          <a:xfrm>
            <a:off x="2404800" y="1158840"/>
            <a:ext cx="8004600" cy="556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Exo"/>
              </a:rPr>
              <a:t>More on Domain Reconnaissance – dirbuster/gobuster – web directory listing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3" descr=""/>
          <p:cNvPicPr/>
          <p:nvPr/>
        </p:nvPicPr>
        <p:blipFill>
          <a:blip r:embed="rId1"/>
          <a:stretch/>
        </p:blipFill>
        <p:spPr>
          <a:xfrm>
            <a:off x="2934360" y="1250280"/>
            <a:ext cx="7704000" cy="547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3"/>
          <p:cNvSpPr/>
          <p:nvPr/>
        </p:nvSpPr>
        <p:spPr>
          <a:xfrm>
            <a:off x="447480" y="96480"/>
            <a:ext cx="9560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More on Domain/Host Reconnaissance – hosting/server vulnerabilities identifier (nikto)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4" descr=""/>
          <p:cNvPicPr/>
          <p:nvPr/>
        </p:nvPicPr>
        <p:blipFill>
          <a:blip r:embed="rId1"/>
          <a:stretch/>
        </p:blipFill>
        <p:spPr>
          <a:xfrm>
            <a:off x="3133800" y="537120"/>
            <a:ext cx="5967720" cy="629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/>
          <p:nvPr/>
        </p:nvSpPr>
        <p:spPr>
          <a:xfrm>
            <a:off x="339480" y="-7560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Exo"/>
              </a:rPr>
              <a:t>Search for Exploits – seachspoilt(exploit-db)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4" descr=""/>
          <p:cNvPicPr/>
          <p:nvPr/>
        </p:nvPicPr>
        <p:blipFill>
          <a:blip r:embed="rId1"/>
          <a:stretch/>
        </p:blipFill>
        <p:spPr>
          <a:xfrm>
            <a:off x="1670760" y="1208160"/>
            <a:ext cx="9556560" cy="55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24360" y="83160"/>
            <a:ext cx="10596600" cy="5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66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Basics of Security Audit/Exploitation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24360" y="723240"/>
            <a:ext cx="1150416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777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Mononoki Nerd Font Propo"/>
              </a:rPr>
              <a:t>Notekeeping – most important task.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Mononoki Nerd Font Propo"/>
              </a:rPr>
              <a:t>Get MAC address and vendor information/card type/capabilities using arp-scan and arping tools for hosts in the same subnet.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Mononoki Nerd Font Propo"/>
              </a:rPr>
              <a:t>Port scanning: Nmap, zmap, mass scan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Mononoki Nerd Font Propo"/>
              </a:rPr>
              <a:t>Open ports, potentially vulnerable services, potential vulnerabilities (i.e. vulnerability scan).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Mononoki Nerd Font Propo"/>
              </a:rPr>
              <a:t>[ you might want to look at censys (zmap) and shodan ]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Mononoki Nerd Font Propo"/>
              </a:rPr>
              <a:t>Domain name enumeration – sublist3r, harvester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Mononoki Nerd Font Propo"/>
              </a:rPr>
              <a:t>More advanced: dnsrecon, dnsenum -- [zone transfers, enumerate domains and record types, brute force domain names, reverse DNS lookups, enumerate subdomains via google]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Propo"/>
              </a:rPr>
              <a:t>Directory scanning – nikto, dirb/dirbuster.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Propo"/>
              </a:rPr>
              <a:t>Search vulnerability – exploit-db, rapid7, securityfocus, packet storm factory,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Propo"/>
              </a:rPr>
              <a:t>Run exploit / code your own / rely on systems like msfconsole (metasploit).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Propo"/>
              </a:rPr>
              <a:t>Cover your tracks – ideally delete the various system logs -- /var/log/syslog, /var/log/httpd-access.log / /var/log/httpd-error.log , /var/log/auth.log, </a:t>
            </a:r>
            <a:r>
              <a:rPr b="0" lang="en-US" sz="2000" spc="-1" strike="noStrike">
                <a:solidFill>
                  <a:schemeClr val="dk1"/>
                </a:solidFill>
                <a:latin typeface="Mononoki Nerd Font Propo"/>
              </a:rPr>
              <a:t>/var/run/utmp, /var/run/wtmp, /var/run/btmp.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23;p48"/>
          <p:cNvSpPr/>
          <p:nvPr/>
        </p:nvSpPr>
        <p:spPr>
          <a:xfrm>
            <a:off x="447480" y="84240"/>
            <a:ext cx="955944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DNSMap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324;p 2"/>
          <p:cNvSpPr/>
          <p:nvPr/>
        </p:nvSpPr>
        <p:spPr>
          <a:xfrm>
            <a:off x="632880" y="821880"/>
            <a:ext cx="11253600" cy="58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Purpose and benefits for attackers: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- DNS enumeration. Relies on several open-source sites (OSINT sites) – google, baidu, linkedin etc.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- Can be used to also scan with a given wordlist (for bruteforcing the DNS).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 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Google Shape;325;p 2" descr=""/>
          <p:cNvPicPr/>
          <p:nvPr/>
        </p:nvPicPr>
        <p:blipFill>
          <a:blip r:embed="rId1"/>
          <a:stretch/>
        </p:blipFill>
        <p:spPr>
          <a:xfrm>
            <a:off x="3477960" y="2743200"/>
            <a:ext cx="6122520" cy="403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330;p49"/>
          <p:cNvSpPr/>
          <p:nvPr/>
        </p:nvSpPr>
        <p:spPr>
          <a:xfrm>
            <a:off x="447480" y="84240"/>
            <a:ext cx="955944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OWASP-Amass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331;p 2"/>
          <p:cNvSpPr/>
          <p:nvPr/>
        </p:nvSpPr>
        <p:spPr>
          <a:xfrm>
            <a:off x="632880" y="821880"/>
            <a:ext cx="11253600" cy="58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Purpose and benefits for attackers: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Mononoki Nerd Font Mono"/>
                <a:ea typeface="Arial"/>
              </a:rPr>
              <a:t>- Slow, yet does pretty much everything that the existing tools can do.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Google Shape;332;p 2" descr=""/>
          <p:cNvPicPr/>
          <p:nvPr/>
        </p:nvPicPr>
        <p:blipFill>
          <a:blip r:embed="rId1"/>
          <a:stretch/>
        </p:blipFill>
        <p:spPr>
          <a:xfrm>
            <a:off x="2971800" y="1794600"/>
            <a:ext cx="7085880" cy="452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5720" y="132480"/>
            <a:ext cx="10771200" cy="66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Msfconsole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5720" y="798120"/>
            <a:ext cx="11562120" cy="58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Various easy to pick and choose vulnerability assessment tools – reconnaissance, enumeration, exploits specific to platform and program versions (e.g. Apache x.y exploit for Linux 2.6.31).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Exploits: Abuse of the vulnerabilities on the systems under test.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Buffer overflow attacks – aka injecting shellcodes, injecting bind shell and reverse shell.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Buffer overflow – Programs take inputs from files/stdin/socket. These inputs may change the program stack and thus the return address.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Inject programs that listen on IP:Ports or connect back (like what Trojans/Malware do).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Mononoki Nerd Font Mono"/>
              </a:rPr>
              <a:t>Other exploits e.g. SQL Injection, invalid or malicious arguments to be passed to webservers, etc. – tool of choice is Burpsuite, Nessus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Picture 4" descr=""/>
          <p:cNvPicPr/>
          <p:nvPr/>
        </p:nvPicPr>
        <p:blipFill>
          <a:blip r:embed="rId1"/>
          <a:stretch/>
        </p:blipFill>
        <p:spPr>
          <a:xfrm>
            <a:off x="3940200" y="2822760"/>
            <a:ext cx="3444120" cy="268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15720" y="132480"/>
            <a:ext cx="10771200" cy="66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Mononoki Nerd Font Mono"/>
              </a:rPr>
              <a:t>Msfconsole: Organization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Picture 5" descr=""/>
          <p:cNvPicPr/>
          <p:nvPr/>
        </p:nvPicPr>
        <p:blipFill>
          <a:blip r:embed="rId1"/>
          <a:stretch/>
        </p:blipFill>
        <p:spPr>
          <a:xfrm>
            <a:off x="1440000" y="797400"/>
            <a:ext cx="9042120" cy="591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4992</TotalTime>
  <Application>LibreOffice/24.2.3.2$Windows_X86_64 LibreOffice_project/433d9c2ded56988e8a90e6b2e771ee4e6a5ab2ba</Application>
  <AppVersion>15.0000</AppVersion>
  <Words>957</Words>
  <Paragraphs>110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2016-07-30T09:19:07Z</dcterms:created>
  <dc:creator>sambuddho</dc:creator>
  <dc:description/>
  <dc:language>en-US</dc:language>
  <cp:lastModifiedBy/>
  <dcterms:modified xsi:type="dcterms:W3CDTF">2025-02-06T08:21:51Z</dcterms:modified>
  <cp:revision>154</cp:revision>
  <dc:subject/>
  <dc:title>Network Security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26</vt:i4>
  </property>
</Properties>
</file>